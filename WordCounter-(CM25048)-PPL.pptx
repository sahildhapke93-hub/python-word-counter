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95" r:id="rId2"/>
    <p:sldId id="374" r:id="rId3"/>
    <p:sldId id="375" r:id="rId4"/>
    <p:sldId id="376" r:id="rId5"/>
    <p:sldId id="377" r:id="rId6"/>
    <p:sldId id="373" r:id="rId7"/>
    <p:sldId id="378" r:id="rId8"/>
    <p:sldId id="379" r:id="rId9"/>
    <p:sldId id="380" r:id="rId10"/>
    <p:sldId id="372" r:id="rId11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OQ" initials="L" lastIdx="1" clrIdx="0">
    <p:extLst>
      <p:ext uri="{19B8F6BF-5375-455C-9EA6-DF929625EA0E}">
        <p15:presenceInfo xmlns:p15="http://schemas.microsoft.com/office/powerpoint/2012/main" userId="LOQ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120" autoAdjust="0"/>
  </p:normalViewPr>
  <p:slideViewPr>
    <p:cSldViewPr>
      <p:cViewPr varScale="1">
        <p:scale>
          <a:sx n="79" d="100"/>
          <a:sy n="79" d="100"/>
        </p:scale>
        <p:origin x="1570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F5C1C8-45B6-47AD-A260-D6675145E30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S. B. Jain Institute of Technology Management and research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A45C92-C1F7-4030-B515-3A52A433E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92848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F1233-0ABC-4AAE-AB53-D76AF6A9EC98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S. B. Jain Institute of Technology Management and research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DFAE99-2354-43A9-B741-C174AEC3E5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659767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DFAE99-2354-43A9-B741-C174AEC3E588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S. B. Jain Institute of Technology Management and research</a:t>
            </a:r>
          </a:p>
        </p:txBody>
      </p:sp>
    </p:spTree>
    <p:extLst>
      <p:ext uri="{BB962C8B-B14F-4D97-AF65-F5344CB8AC3E}">
        <p14:creationId xmlns:p14="http://schemas.microsoft.com/office/powerpoint/2010/main" val="18496713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85C42F-1CBF-4C6A-B882-9D2111338B27}" type="datetime1">
              <a:rPr lang="en-US" smtClean="0"/>
              <a:t>8/18/2026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870"/>
              </a:lnSpc>
            </a:pPr>
            <a:fld id="{81D60167-4931-47E6-BA6A-407CBD079E47}" type="slidenum">
              <a:rPr dirty="0"/>
              <a:pPr marL="38100">
                <a:lnSpc>
                  <a:spcPts val="1870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891B3E-447D-4E1C-8947-BD55B1F89A0A}" type="datetime1">
              <a:rPr lang="en-US" smtClean="0"/>
              <a:t>8/18/2026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870"/>
              </a:lnSpc>
            </a:pPr>
            <a:fld id="{81D60167-4931-47E6-BA6A-407CBD079E47}" type="slidenum">
              <a:rPr dirty="0"/>
              <a:pPr marL="38100">
                <a:lnSpc>
                  <a:spcPts val="1870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3ED53B-E317-4FB2-8A8D-871B2784CE10}" type="datetime1">
              <a:rPr lang="en-US" smtClean="0"/>
              <a:t>8/18/2026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870"/>
              </a:lnSpc>
            </a:pPr>
            <a:fld id="{81D60167-4931-47E6-BA6A-407CBD079E47}" type="slidenum">
              <a:rPr dirty="0"/>
              <a:pPr marL="38100">
                <a:lnSpc>
                  <a:spcPts val="1870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F43EB6-EEF9-4730-B39F-C1E9EC0E2379}" type="datetime1">
              <a:rPr lang="en-US" smtClean="0"/>
              <a:t>8/18/2026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870"/>
              </a:lnSpc>
            </a:pPr>
            <a:fld id="{81D60167-4931-47E6-BA6A-407CBD079E47}" type="slidenum">
              <a:rPr dirty="0"/>
              <a:pPr marL="38100">
                <a:lnSpc>
                  <a:spcPts val="1870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9D6A69-E8A8-4719-9000-213BF16B839B}" type="datetime1">
              <a:rPr lang="en-US" smtClean="0"/>
              <a:t>8/18/2026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870"/>
              </a:lnSpc>
            </a:pPr>
            <a:fld id="{81D60167-4931-47E6-BA6A-407CBD079E47}" type="slidenum">
              <a:rPr dirty="0"/>
              <a:pPr marL="38100">
                <a:lnSpc>
                  <a:spcPts val="1870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46050" y="6390640"/>
            <a:ext cx="8832850" cy="309880"/>
          </a:xfrm>
          <a:custGeom>
            <a:avLst/>
            <a:gdLst/>
            <a:ahLst/>
            <a:cxnLst/>
            <a:rect l="l" t="t" r="r" b="b"/>
            <a:pathLst>
              <a:path w="8832850" h="309879">
                <a:moveTo>
                  <a:pt x="8832850" y="0"/>
                </a:moveTo>
                <a:lnTo>
                  <a:pt x="0" y="0"/>
                </a:lnTo>
                <a:lnTo>
                  <a:pt x="0" y="309880"/>
                </a:lnTo>
                <a:lnTo>
                  <a:pt x="8832850" y="309880"/>
                </a:lnTo>
                <a:close/>
              </a:path>
            </a:pathLst>
          </a:custGeom>
          <a:solidFill>
            <a:srgbClr val="8BAC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52400" y="158750"/>
            <a:ext cx="8832850" cy="6546850"/>
          </a:xfrm>
          <a:custGeom>
            <a:avLst/>
            <a:gdLst/>
            <a:ahLst/>
            <a:cxnLst/>
            <a:rect l="l" t="t" r="r" b="b"/>
            <a:pathLst>
              <a:path w="8832850" h="6546850">
                <a:moveTo>
                  <a:pt x="4415790" y="6546850"/>
                </a:moveTo>
                <a:lnTo>
                  <a:pt x="0" y="6546850"/>
                </a:lnTo>
                <a:lnTo>
                  <a:pt x="0" y="0"/>
                </a:lnTo>
                <a:lnTo>
                  <a:pt x="8832850" y="0"/>
                </a:lnTo>
                <a:lnTo>
                  <a:pt x="8832850" y="6546850"/>
                </a:lnTo>
                <a:lnTo>
                  <a:pt x="4415790" y="6546850"/>
                </a:lnTo>
                <a:close/>
              </a:path>
            </a:pathLst>
          </a:custGeom>
          <a:ln w="9344">
            <a:solidFill>
              <a:srgbClr val="7A97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70559" y="346709"/>
            <a:ext cx="7802880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62000" y="1828800"/>
            <a:ext cx="7471409" cy="3810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2270" y="6458416"/>
            <a:ext cx="3950970" cy="196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9300D4-36A4-4C00-9038-1A5D5B872909}" type="datetime1">
              <a:rPr lang="en-US" smtClean="0"/>
              <a:t>8/18/2026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459469" y="6430208"/>
            <a:ext cx="302259" cy="2527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870"/>
              </a:lnSpc>
            </a:pPr>
            <a:fld id="{81D60167-4931-47E6-BA6A-407CBD079E47}" type="slidenum">
              <a:rPr dirty="0"/>
              <a:pPr marL="38100">
                <a:lnSpc>
                  <a:spcPts val="1870"/>
                </a:lnSpc>
              </a:pPr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sldNum="0"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" y="304800"/>
            <a:ext cx="8305800" cy="33983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32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Experiential Learning</a:t>
            </a:r>
            <a:br>
              <a:rPr lang="en-US" sz="32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2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Project Assessment-I</a:t>
            </a:r>
            <a:br>
              <a:rPr lang="en-US" sz="32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2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on</a:t>
            </a:r>
            <a:br>
              <a:rPr lang="en-US" sz="32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200" b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en-US" sz="32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Word Counter</a:t>
            </a:r>
            <a:r>
              <a:rPr 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br>
              <a:rPr 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the course</a:t>
            </a:r>
            <a:br>
              <a:rPr 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Programming Language (N-PCCCM304P)</a:t>
            </a:r>
            <a:br>
              <a:rPr 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3200" dirty="0">
              <a:solidFill>
                <a:srgbClr val="00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CustomShape 2"/>
          <p:cNvSpPr/>
          <p:nvPr/>
        </p:nvSpPr>
        <p:spPr>
          <a:xfrm>
            <a:off x="685800" y="3295692"/>
            <a:ext cx="2743200" cy="1504908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I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: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I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Sahil </a:t>
            </a:r>
            <a:r>
              <a:rPr lang="en-IN" sz="20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Dhapke</a:t>
            </a:r>
            <a:endParaRPr lang="en-IN" sz="20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I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[CM25048]                        </a:t>
            </a:r>
            <a:endParaRPr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ustomShape 3"/>
          <p:cNvSpPr/>
          <p:nvPr/>
        </p:nvSpPr>
        <p:spPr>
          <a:xfrm>
            <a:off x="5305425" y="3277000"/>
            <a:ext cx="3409950" cy="1222560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</a:t>
            </a:r>
          </a:p>
          <a:p>
            <a:pPr algn="ctr">
              <a:lnSpc>
                <a:spcPct val="1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Mrs. Suchita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Meshkar</a:t>
            </a:r>
            <a:endParaRPr lang="en-IN" sz="20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ustomShape 5"/>
          <p:cNvSpPr/>
          <p:nvPr/>
        </p:nvSpPr>
        <p:spPr>
          <a:xfrm>
            <a:off x="1447800" y="4648200"/>
            <a:ext cx="6629040" cy="3978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IN" sz="2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Session:2026-27 (ODD )</a:t>
            </a:r>
          </a:p>
          <a:p>
            <a:pPr algn="ctr">
              <a:lnSpc>
                <a:spcPct val="100000"/>
              </a:lnSpc>
            </a:pPr>
            <a:r>
              <a:rPr lang="en-I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CSE(AI&amp;ML)</a:t>
            </a:r>
          </a:p>
          <a:p>
            <a:pPr>
              <a:lnSpc>
                <a:spcPct val="100000"/>
              </a:lnSpc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CustomShape 4"/>
          <p:cNvSpPr/>
          <p:nvPr/>
        </p:nvSpPr>
        <p:spPr>
          <a:xfrm>
            <a:off x="457200" y="53340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ctr">
              <a:lnSpc>
                <a:spcPct val="93000"/>
              </a:lnSpc>
            </a:pPr>
            <a:r>
              <a:rPr lang="en-IN" sz="2200" b="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      </a:t>
            </a:r>
            <a:r>
              <a:rPr lang="en-IN" sz="2000" b="1" dirty="0">
                <a:solidFill>
                  <a:srgbClr val="000000"/>
                </a:solidFill>
                <a:latin typeface="Times New Roman" pitchFamily="18" charset="0"/>
                <a:ea typeface="DejaVu Sans"/>
                <a:cs typeface="Times New Roman" pitchFamily="18" charset="0"/>
              </a:rPr>
              <a:t>S. B. JAIN INSTITUTE OF TECHNOLOGY MANAGEMENT AND RESEARCH,NAGPUR</a:t>
            </a:r>
          </a:p>
          <a:p>
            <a:pPr algn="ctr">
              <a:lnSpc>
                <a:spcPct val="93000"/>
              </a:lnSpc>
            </a:pPr>
            <a:r>
              <a:rPr lang="en-IN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An Autonomous Institute, Affiliated to RTMNU, Nagpur</a:t>
            </a:r>
            <a:endParaRPr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 descr="C:\Users\PROJECT LAB\Desktop\College LOGO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38575" y="3286617"/>
            <a:ext cx="1466850" cy="1066801"/>
          </a:xfrm>
          <a:prstGeom prst="rect">
            <a:avLst/>
          </a:prstGeom>
          <a:noFill/>
        </p:spPr>
      </p:pic>
      <p:sp>
        <p:nvSpPr>
          <p:cNvPr id="4" name="Footer Placeholder 3"/>
          <p:cNvSpPr>
            <a:spLocks noGrp="1"/>
          </p:cNvSpPr>
          <p:nvPr>
            <p:ph type="ftr" sz="quarter" idx="5"/>
          </p:nvPr>
        </p:nvSpPr>
        <p:spPr>
          <a:xfrm>
            <a:off x="3352800" y="6477000"/>
            <a:ext cx="5637530" cy="215444"/>
          </a:xfrm>
        </p:spPr>
        <p:txBody>
          <a:bodyPr/>
          <a:lstStyle/>
          <a:p>
            <a:pPr algn="r">
              <a:lnSpc>
                <a:spcPct val="100000"/>
              </a:lnSpc>
            </a:pPr>
            <a:r>
              <a:rPr lang="en-US" sz="1400" b="1" dirty="0"/>
              <a:t>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B4BAB-5BA1-CFF1-888A-00EB381D3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056E2-805C-50A3-7FD5-A1AA3FAD8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535" y="533400"/>
            <a:ext cx="7802880" cy="738664"/>
          </a:xfrm>
        </p:spPr>
        <p:txBody>
          <a:bodyPr/>
          <a:lstStyle/>
          <a:p>
            <a:r>
              <a:rPr lang="en-US" b="1" u="sng" dirty="0"/>
              <a:t>Problem statement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D3B38D-C3A3-1E45-97CA-375FB3F360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0505" y="1371600"/>
            <a:ext cx="7471409" cy="3046988"/>
          </a:xfrm>
        </p:spPr>
        <p:txBody>
          <a:bodyPr/>
          <a:lstStyle/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Counting words and letters by hand takes too much time.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People make mistakes when counting long paragraphs manually.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is hard to see which words are repeated again and again.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Common words like </a:t>
            </a:r>
            <a:r>
              <a:rPr lang="en-US" i="1" dirty="0"/>
              <a:t>is</a:t>
            </a:r>
            <a:r>
              <a:rPr lang="en-US" dirty="0"/>
              <a:t>, </a:t>
            </a:r>
            <a:r>
              <a:rPr lang="en-US" i="1" dirty="0"/>
              <a:t>the</a:t>
            </a:r>
            <a:r>
              <a:rPr lang="en-US" dirty="0"/>
              <a:t>, and </a:t>
            </a:r>
            <a:r>
              <a:rPr lang="en-US" i="1" dirty="0" err="1"/>
              <a:t>and</a:t>
            </a:r>
            <a:r>
              <a:rPr lang="en-US" dirty="0"/>
              <a:t> make the count confusing.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need a fast Python program to count everything automatically.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99BE6D-C41B-A4B2-9041-18E0C65235FC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129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E575C-6BD6-7BCE-8917-E5B0FB0B7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3AC6C-F3DD-688F-7001-D7DDAFADC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535" y="685800"/>
            <a:ext cx="7802880" cy="369332"/>
          </a:xfrm>
        </p:spPr>
        <p:txBody>
          <a:bodyPr/>
          <a:lstStyle/>
          <a:p>
            <a:r>
              <a:rPr lang="en-US" dirty="0"/>
              <a:t>  </a:t>
            </a:r>
            <a:r>
              <a:rPr lang="en-US" b="1" u="sng" dirty="0"/>
              <a:t>Objectives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832033-8BC6-6E98-4874-C475469094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7535" y="1752600"/>
            <a:ext cx="7471409" cy="304698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build a simple tool that counts words and letters instantly.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count paragraphs and sentences in any text.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count unique (different) words.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find and show the most repeated words.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let users type text or load a .txt file easily.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319456-9B61-EBDA-E596-862E207E7AAF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4051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55FFF-D19A-3FF8-5DD9-48672D16D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5021E-3D25-1996-821D-911CE214B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363" y="573661"/>
            <a:ext cx="7802880" cy="369332"/>
          </a:xfrm>
        </p:spPr>
        <p:txBody>
          <a:bodyPr/>
          <a:lstStyle/>
          <a:p>
            <a:r>
              <a:rPr lang="en-US" u="sng" dirty="0"/>
              <a:t>  </a:t>
            </a:r>
            <a:r>
              <a:rPr lang="en-US" b="1" u="sng" dirty="0"/>
              <a:t>Algorithm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0F9636-CD36-82B3-BCB4-75F5DA074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1363" y="1113693"/>
            <a:ext cx="7471409" cy="4985980"/>
          </a:xfrm>
        </p:spPr>
        <p:txBody>
          <a:bodyPr/>
          <a:lstStyle/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Start the program.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Ask the user to type text or choose a text file.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Read and save the text.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Break the text into lines, sentences, and words.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Remove common words like </a:t>
            </a:r>
            <a:r>
              <a:rPr lang="en-US" i="1" dirty="0"/>
              <a:t>is</a:t>
            </a:r>
            <a:r>
              <a:rPr lang="en-US" dirty="0"/>
              <a:t> or </a:t>
            </a:r>
            <a:r>
              <a:rPr lang="en-US" i="1" dirty="0"/>
              <a:t>the</a:t>
            </a:r>
            <a:r>
              <a:rPr lang="en-US" dirty="0"/>
              <a:t> if requested.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Count all letters, words, and repeated words.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Show the final numbers on the screen.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Stop the program.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941C27-3575-FD8A-8FE0-64AC69EA395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8377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30010-0200-2C17-F61E-32E0CEA26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AC2AF-BA95-D7FC-9C10-A858C41CC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59" y="346709"/>
            <a:ext cx="7802880" cy="369332"/>
          </a:xfrm>
        </p:spPr>
        <p:txBody>
          <a:bodyPr/>
          <a:lstStyle/>
          <a:p>
            <a:r>
              <a:rPr lang="en-US" dirty="0"/>
              <a:t>   </a:t>
            </a:r>
            <a:r>
              <a:rPr lang="en-US" b="1" u="sng" dirty="0"/>
              <a:t>Flowchart/pseudocode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F2496E-C4FA-A60F-F95F-C7CC08A0BBF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2E9A56-5D1F-5884-C7BD-D1EE8C580B06}"/>
              </a:ext>
            </a:extLst>
          </p:cNvPr>
          <p:cNvSpPr/>
          <p:nvPr/>
        </p:nvSpPr>
        <p:spPr>
          <a:xfrm>
            <a:off x="1075689" y="841443"/>
            <a:ext cx="6772910" cy="29669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E140CD75-4D57-1A01-DF63-489C6A85EDC1}"/>
              </a:ext>
            </a:extLst>
          </p:cNvPr>
          <p:cNvSpPr/>
          <p:nvPr/>
        </p:nvSpPr>
        <p:spPr>
          <a:xfrm>
            <a:off x="3886200" y="1058889"/>
            <a:ext cx="1100456" cy="321126"/>
          </a:xfrm>
          <a:prstGeom prst="flowChartAlternateProcess">
            <a:avLst/>
          </a:prstGeom>
          <a:solidFill>
            <a:schemeClr val="accent3">
              <a:lumMod val="40000"/>
              <a:lumOff val="6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Start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5C70E75-6AFF-D8D1-3FE0-63521A5E9DAF}"/>
              </a:ext>
            </a:extLst>
          </p:cNvPr>
          <p:cNvSpPr/>
          <p:nvPr/>
        </p:nvSpPr>
        <p:spPr>
          <a:xfrm>
            <a:off x="2893378" y="1646380"/>
            <a:ext cx="3086100" cy="381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1</a:t>
            </a:r>
            <a:r>
              <a:rPr lang="en-US" dirty="0">
                <a:solidFill>
                  <a:schemeClr val="tx1"/>
                </a:solidFill>
              </a:rPr>
              <a:t>. </a:t>
            </a:r>
            <a:r>
              <a:rPr lang="en-US" sz="1400" dirty="0">
                <a:solidFill>
                  <a:schemeClr val="tx1"/>
                </a:solidFill>
              </a:rPr>
              <a:t>User Enters Text or Chooses File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656C3E-A724-ECCC-6DD7-65F1D50ED06F}"/>
              </a:ext>
            </a:extLst>
          </p:cNvPr>
          <p:cNvSpPr/>
          <p:nvPr/>
        </p:nvSpPr>
        <p:spPr>
          <a:xfrm>
            <a:off x="2408016" y="2231802"/>
            <a:ext cx="4056824" cy="51527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2. Break Text into Words and Sentences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CBC0F1-367B-D8FF-BF33-2D41419F7CCD}"/>
              </a:ext>
            </a:extLst>
          </p:cNvPr>
          <p:cNvSpPr/>
          <p:nvPr/>
        </p:nvSpPr>
        <p:spPr>
          <a:xfrm>
            <a:off x="2647949" y="3021797"/>
            <a:ext cx="3524251" cy="28974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3. Remove Common Stop Words (Optional)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ABD62F-A7BE-8D69-36CD-E77069A2CA19}"/>
              </a:ext>
            </a:extLst>
          </p:cNvPr>
          <p:cNvSpPr/>
          <p:nvPr/>
        </p:nvSpPr>
        <p:spPr>
          <a:xfrm>
            <a:off x="2408016" y="3586268"/>
            <a:ext cx="4056824" cy="43607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4. Count Words, Letters, and Repeated Words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87DC4D-E21E-A468-F297-BB303977B65B}"/>
              </a:ext>
            </a:extLst>
          </p:cNvPr>
          <p:cNvSpPr/>
          <p:nvPr/>
        </p:nvSpPr>
        <p:spPr>
          <a:xfrm>
            <a:off x="2893378" y="4288712"/>
            <a:ext cx="3086100" cy="35948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5. Show Results on Screen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7BAB616-5FA7-3B23-9D78-48D941A74865}"/>
              </a:ext>
            </a:extLst>
          </p:cNvPr>
          <p:cNvSpPr/>
          <p:nvPr/>
        </p:nvSpPr>
        <p:spPr>
          <a:xfrm>
            <a:off x="3931205" y="4922926"/>
            <a:ext cx="1066800" cy="3048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End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14D5137-32AF-5D62-ACED-35DD8DC9C3A6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4436428" y="1380015"/>
            <a:ext cx="0" cy="2663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20B5276-DF7B-6E81-BB0B-8D848EDE11DC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4430334" y="2027380"/>
            <a:ext cx="6094" cy="20442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E44D82E-F361-8EA9-39F1-B3A52EF3EC09}"/>
              </a:ext>
            </a:extLst>
          </p:cNvPr>
          <p:cNvCxnSpPr>
            <a:cxnSpLocks/>
          </p:cNvCxnSpPr>
          <p:nvPr/>
        </p:nvCxnSpPr>
        <p:spPr>
          <a:xfrm>
            <a:off x="4417979" y="3319903"/>
            <a:ext cx="0" cy="2663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03CF781-7734-FE0A-1B2F-85B237808ABD}"/>
              </a:ext>
            </a:extLst>
          </p:cNvPr>
          <p:cNvCxnSpPr>
            <a:cxnSpLocks/>
          </p:cNvCxnSpPr>
          <p:nvPr/>
        </p:nvCxnSpPr>
        <p:spPr>
          <a:xfrm>
            <a:off x="4447162" y="4022347"/>
            <a:ext cx="0" cy="2663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D9E7498-9C4F-8AB0-6921-FDC2F36BE8FC}"/>
              </a:ext>
            </a:extLst>
          </p:cNvPr>
          <p:cNvCxnSpPr>
            <a:cxnSpLocks/>
            <a:stCxn id="13" idx="2"/>
          </p:cNvCxnSpPr>
          <p:nvPr/>
        </p:nvCxnSpPr>
        <p:spPr>
          <a:xfrm flipH="1">
            <a:off x="4430334" y="4648200"/>
            <a:ext cx="6094" cy="2792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8FB7FAD-DB57-A092-1881-06B668EABD50}"/>
              </a:ext>
            </a:extLst>
          </p:cNvPr>
          <p:cNvCxnSpPr>
            <a:cxnSpLocks/>
          </p:cNvCxnSpPr>
          <p:nvPr/>
        </p:nvCxnSpPr>
        <p:spPr>
          <a:xfrm>
            <a:off x="4410074" y="2747072"/>
            <a:ext cx="0" cy="2663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3993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029" y="457200"/>
            <a:ext cx="7802880" cy="369332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b="1" u="sng" dirty="0"/>
              <a:t>Understanding of Python logic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DF8512A-1A41-9B94-EEEF-55038619E4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1371600"/>
            <a:ext cx="3733800" cy="3869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0711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C2E5A-693D-7A9F-305F-37709C745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E877A-8023-E924-763E-C23E1809E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29" y="476205"/>
            <a:ext cx="7802880" cy="369332"/>
          </a:xfrm>
        </p:spPr>
        <p:txBody>
          <a:bodyPr/>
          <a:lstStyle/>
          <a:p>
            <a:r>
              <a:rPr lang="en-US" b="1" u="sng" dirty="0"/>
              <a:t>How it works &amp; benefits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97E5FD-D627-BAEA-C3CA-9934E9B1D5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0559" y="1219200"/>
            <a:ext cx="7471409" cy="4154984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Simple Flow:</a:t>
            </a:r>
          </a:p>
          <a:p>
            <a:endParaRPr lang="en-US" dirty="0"/>
          </a:p>
          <a:p>
            <a:r>
              <a:rPr lang="en-US" dirty="0"/>
              <a:t>User Text  </a:t>
            </a:r>
            <a:r>
              <a:rPr lang="en-US" sz="1400" dirty="0">
                <a:sym typeface="Wingdings" panose="05000000000000000000" pitchFamily="2" charset="2"/>
              </a:rPr>
              <a:t>  </a:t>
            </a:r>
            <a:r>
              <a:rPr lang="en-US" dirty="0"/>
              <a:t>Clean Text  </a:t>
            </a:r>
            <a:r>
              <a:rPr lang="en-US" sz="1400" dirty="0">
                <a:sym typeface="Wingdings" panose="05000000000000000000" pitchFamily="2" charset="2"/>
              </a:rPr>
              <a:t></a:t>
            </a:r>
            <a:r>
              <a:rPr lang="en-US" dirty="0">
                <a:sym typeface="Wingdings" panose="05000000000000000000" pitchFamily="2" charset="2"/>
              </a:rPr>
              <a:t>  </a:t>
            </a:r>
            <a:r>
              <a:rPr lang="en-US" dirty="0"/>
              <a:t>Count Everything  </a:t>
            </a:r>
            <a:r>
              <a:rPr lang="en-US" sz="1400" dirty="0">
                <a:sym typeface="Wingdings" panose="05000000000000000000" pitchFamily="2" charset="2"/>
              </a:rPr>
              <a:t></a:t>
            </a:r>
            <a:r>
              <a:rPr lang="en-US" dirty="0">
                <a:sym typeface="Wingdings" panose="05000000000000000000" pitchFamily="2" charset="2"/>
              </a:rPr>
              <a:t>  </a:t>
            </a:r>
            <a:r>
              <a:rPr lang="en-US" dirty="0"/>
              <a:t>Show Results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How it Works:</a:t>
            </a:r>
          </a:p>
          <a:p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Splits Text:</a:t>
            </a:r>
            <a:r>
              <a:rPr lang="en-US" dirty="0"/>
              <a:t> Divides sentences using full stops and words using spaces.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Counts Words:</a:t>
            </a:r>
            <a:r>
              <a:rPr lang="en-US" dirty="0"/>
              <a:t> Uses Python lists and dictionaries to count numbers fast.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Cleans Up:</a:t>
            </a:r>
            <a:r>
              <a:rPr lang="en-US" dirty="0"/>
              <a:t> Removes common words so you see only important words.</a:t>
            </a:r>
          </a:p>
          <a:p>
            <a:pPr lvl="1"/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Benefits: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Very fast and saves time.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100% accurate results with no manual errors.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6C8675-034C-1AF4-B302-5183FBE67A1F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4073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5ABF0-7022-B6D0-A4F3-677A7790B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DC769-38B8-B22F-2B5F-728031AC4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3" y="609600"/>
            <a:ext cx="7802880" cy="369332"/>
          </a:xfrm>
        </p:spPr>
        <p:txBody>
          <a:bodyPr/>
          <a:lstStyle/>
          <a:p>
            <a:r>
              <a:rPr lang="en-US" b="1" u="sng" dirty="0"/>
              <a:t>GitHub Details &amp; My Contribution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47B765-7FB0-10A6-8DD7-942B3A817B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7535" y="1480185"/>
            <a:ext cx="7471409" cy="2492990"/>
          </a:xfrm>
        </p:spPr>
        <p:txBody>
          <a:bodyPr/>
          <a:lstStyle/>
          <a:p>
            <a:r>
              <a:rPr lang="en-US" b="1" dirty="0"/>
              <a:t>Repository Name : </a:t>
            </a:r>
            <a:r>
              <a:rPr lang="en-US" dirty="0"/>
              <a:t>python-word-counter</a:t>
            </a:r>
          </a:p>
          <a:p>
            <a:endParaRPr lang="en-US" dirty="0"/>
          </a:p>
          <a:p>
            <a:r>
              <a:rPr lang="en-US" b="1" dirty="0"/>
              <a:t>My Contribution: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Understood the problem and planned the project steps.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Wrote the simple Python code using split and dict.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Tested the code with different texts.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Created the GitHub repo and made this presentation.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fontAlgn="t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59F88D-625D-0D5D-26EF-200280B3042F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50368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16B0F-53FA-62AD-C2EC-E712AEBEF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A0AAB-CC70-FBFA-4C02-C86E401E1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57200"/>
            <a:ext cx="7802880" cy="369332"/>
          </a:xfrm>
        </p:spPr>
        <p:txBody>
          <a:bodyPr/>
          <a:lstStyle/>
          <a:p>
            <a:r>
              <a:rPr lang="en-US" b="1" u="sng" dirty="0"/>
              <a:t>Result / Expected Output</a:t>
            </a:r>
            <a:endParaRPr lang="en-US" u="sng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8E4F9B-E5B0-17DE-01BF-057FCC542909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682536-21DC-2A18-4C8B-B7EE89F312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1" y="1235172"/>
            <a:ext cx="4162090" cy="3108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9317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CustomShape 1"/>
          <p:cNvSpPr/>
          <p:nvPr/>
        </p:nvSpPr>
        <p:spPr>
          <a:xfrm>
            <a:off x="703384" y="2895480"/>
            <a:ext cx="7626462" cy="13165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IN" sz="2800" dirty="0">
                <a:solidFill>
                  <a:srgbClr val="0000FF"/>
                </a:solidFill>
                <a:latin typeface="Arial"/>
              </a:rPr>
              <a:t>                       </a:t>
            </a:r>
            <a:r>
              <a:rPr lang="en-IN" sz="4800" b="1" dirty="0">
                <a:solidFill>
                  <a:srgbClr val="0000FF"/>
                </a:solidFill>
                <a:latin typeface="Arial"/>
              </a:rPr>
              <a:t>Thank You</a:t>
            </a:r>
            <a:endParaRPr/>
          </a:p>
          <a:p>
            <a:pPr>
              <a:lnSpc>
                <a:spcPct val="100000"/>
              </a:lnSpc>
            </a:pPr>
            <a:r>
              <a:rPr lang="en-IN" sz="4800" dirty="0">
                <a:solidFill>
                  <a:srgbClr val="0000FF"/>
                </a:solidFill>
                <a:latin typeface="Arial"/>
              </a:rPr>
              <a:t> </a:t>
            </a:r>
            <a:endParaRPr/>
          </a:p>
        </p:txBody>
      </p:sp>
      <p:sp>
        <p:nvSpPr>
          <p:cNvPr id="3" name="TextShape 3"/>
          <p:cNvSpPr txBox="1"/>
          <p:nvPr/>
        </p:nvSpPr>
        <p:spPr>
          <a:xfrm>
            <a:off x="410400" y="6172200"/>
            <a:ext cx="6681877" cy="685440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IN" dirty="0">
                <a:solidFill>
                  <a:srgbClr val="8B8B8B"/>
                </a:solidFill>
                <a:latin typeface="Cambria"/>
              </a:rPr>
              <a:t>S. B. Jain Institute of Technology Management and research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1228</TotalTime>
  <Words>556</Words>
  <Application>Microsoft Office PowerPoint</Application>
  <PresentationFormat>On-screen Show (4:3)</PresentationFormat>
  <Paragraphs>96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Cambria</vt:lpstr>
      <vt:lpstr>Times New Roman</vt:lpstr>
      <vt:lpstr>Wingdings</vt:lpstr>
      <vt:lpstr>Office Theme</vt:lpstr>
      <vt:lpstr>Experiential Learning Project Assessment-I on “ Word Counter” under the course Python Programming Language (N-PCCCM304P) </vt:lpstr>
      <vt:lpstr>Problem statement </vt:lpstr>
      <vt:lpstr>  Objectives</vt:lpstr>
      <vt:lpstr>  Algorithm</vt:lpstr>
      <vt:lpstr>   Flowchart/pseudocode</vt:lpstr>
      <vt:lpstr> Understanding of Python logic</vt:lpstr>
      <vt:lpstr>How it works &amp; benefits</vt:lpstr>
      <vt:lpstr>GitHub Details &amp; My Contribution</vt:lpstr>
      <vt:lpstr>Result / Expected Output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MRS. MAYURI GETME</dc:creator>
  <cp:lastModifiedBy>LOQ</cp:lastModifiedBy>
  <cp:revision>213</cp:revision>
  <dcterms:created xsi:type="dcterms:W3CDTF">2021-03-08T15:20:31Z</dcterms:created>
  <dcterms:modified xsi:type="dcterms:W3CDTF">2026-08-18T17:44:31Z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2017-11-07T00:00:00Z</vt:filetime>
  </property>
  <property fmtid="{D5CDD505-2E9C-101B-9397-08002B2CF9AE}" pid="3" name="Creator">
    <vt:lpwstr>Impress</vt:lpwstr>
  </property>
  <property fmtid="{D5CDD505-2E9C-101B-9397-08002B2CF9AE}" pid="4" name="LastSaved">
    <vt:filetime>2021-03-08T00:00:00Z</vt:filetime>
  </property>
</Properties>
</file>