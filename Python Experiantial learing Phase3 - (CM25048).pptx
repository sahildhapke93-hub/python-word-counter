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32"/>
  </p:notesMasterIdLst>
  <p:handoutMasterIdLst>
    <p:handoutMasterId r:id="rId33"/>
  </p:handoutMasterIdLst>
  <p:sldIdLst>
    <p:sldId id="295" r:id="rId2"/>
    <p:sldId id="374" r:id="rId3"/>
    <p:sldId id="375" r:id="rId4"/>
    <p:sldId id="376" r:id="rId5"/>
    <p:sldId id="377" r:id="rId6"/>
    <p:sldId id="373" r:id="rId7"/>
    <p:sldId id="378" r:id="rId8"/>
    <p:sldId id="379" r:id="rId9"/>
    <p:sldId id="380" r:id="rId10"/>
    <p:sldId id="389" r:id="rId11"/>
    <p:sldId id="381" r:id="rId12"/>
    <p:sldId id="382" r:id="rId13"/>
    <p:sldId id="383" r:id="rId14"/>
    <p:sldId id="384" r:id="rId15"/>
    <p:sldId id="385" r:id="rId16"/>
    <p:sldId id="386" r:id="rId17"/>
    <p:sldId id="387" r:id="rId18"/>
    <p:sldId id="390" r:id="rId19"/>
    <p:sldId id="391" r:id="rId20"/>
    <p:sldId id="392" r:id="rId21"/>
    <p:sldId id="393" r:id="rId22"/>
    <p:sldId id="394" r:id="rId23"/>
    <p:sldId id="396" r:id="rId24"/>
    <p:sldId id="397" r:id="rId25"/>
    <p:sldId id="398" r:id="rId26"/>
    <p:sldId id="399" r:id="rId27"/>
    <p:sldId id="400" r:id="rId28"/>
    <p:sldId id="401" r:id="rId29"/>
    <p:sldId id="402" r:id="rId30"/>
    <p:sldId id="372" r:id="rId31"/>
  </p:sldIdLst>
  <p:sldSz cx="9144000" cy="6858000" type="screen4x3"/>
  <p:notesSz cx="9144000" cy="6858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LOQ" initials="L" lastIdx="1" clrIdx="0">
    <p:extLst>
      <p:ext uri="{19B8F6BF-5375-455C-9EA6-DF929625EA0E}">
        <p15:presenceInfo xmlns:p15="http://schemas.microsoft.com/office/powerpoint/2012/main" userId="LOQ" providerId="None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C189F7"/>
    <a:srgbClr val="000000"/>
    <a:srgbClr val="0000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3120" autoAdjust="0"/>
  </p:normalViewPr>
  <p:slideViewPr>
    <p:cSldViewPr>
      <p:cViewPr varScale="1">
        <p:scale>
          <a:sx n="79" d="100"/>
          <a:sy n="79" d="100"/>
        </p:scale>
        <p:origin x="1570" y="77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34" Type="http://schemas.openxmlformats.org/officeDocument/2006/relationships/commentAuthors" Target="commentAuthor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handoutMaster" Target="handoutMasters/handoutMaster1.xml"/><Relationship Id="rId38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notesMaster" Target="notesMasters/notesMaster1.xml"/><Relationship Id="rId37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presProps" Target="presProps.xml"/><Relationship Id="rId8" Type="http://schemas.openxmlformats.org/officeDocument/2006/relationships/slide" Target="slides/slide7.xml"/><Relationship Id="rId3" Type="http://schemas.openxmlformats.org/officeDocument/2006/relationships/slide" Target="slides/slide2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44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5180013" y="0"/>
            <a:ext cx="3962400" cy="3444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DF5C1C8-45B6-47AD-A260-D6675145E309}" type="datetimeFigureOut">
              <a:rPr lang="en-US" smtClean="0"/>
              <a:t>10/12/2026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6513513"/>
            <a:ext cx="3962400" cy="3444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r>
              <a:rPr lang="en-US"/>
              <a:t>S. B. Jain Institute of Technology Management and research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5180013" y="6513513"/>
            <a:ext cx="3962400" cy="3444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2A45C92-C1F7-4030-B515-3A52A433E09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03928481"/>
      </p:ext>
    </p:extLst>
  </p:cSld>
  <p:clrMap bg1="lt1" tx1="dk1" bg2="lt2" tx2="dk2" accent1="accent1" accent2="accent2" accent3="accent3" accent4="accent4" accent5="accent5" accent6="accent6" hlink="hlink" folHlink="folHlink"/>
  <p:hf hd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19F1233-0ABC-4AAE-AB53-D76AF6A9EC98}" type="datetimeFigureOut">
              <a:rPr lang="en-US" smtClean="0"/>
              <a:pPr/>
              <a:t>10/12/2026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4350"/>
            <a:ext cx="3429000" cy="257175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13513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r>
              <a:rPr lang="en-US"/>
              <a:t>S. B. Jain Institute of Technology Management and research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13513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CDFAE99-2354-43A9-B741-C174AEC3E588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19659767"/>
      </p:ext>
    </p:extLst>
  </p:cSld>
  <p:clrMap bg1="lt1" tx1="dk1" bg2="lt2" tx2="dk2" accent1="accent1" accent2="accent2" accent3="accent3" accent4="accent4" accent5="accent5" accent6="accent6" hlink="hlink" folHlink="folHlink"/>
  <p:hf hdr="0" dt="0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CDFAE99-2354-43A9-B741-C174AEC3E588}" type="slidenum">
              <a:rPr lang="en-US" smtClean="0"/>
              <a:pPr/>
              <a:t>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S. B. Jain Institute of Technology Management and research</a:t>
            </a:r>
          </a:p>
        </p:txBody>
      </p:sp>
    </p:spTree>
    <p:extLst>
      <p:ext uri="{BB962C8B-B14F-4D97-AF65-F5344CB8AC3E}">
        <p14:creationId xmlns:p14="http://schemas.microsoft.com/office/powerpoint/2010/main" val="1849671355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r>
              <a:rPr lang="en-US"/>
              <a:t>S. B. Jain Institute of Technology Management and research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CDFAE99-2354-43A9-B741-C174AEC3E588}" type="slidenum">
              <a:rPr lang="en-US" smtClean="0"/>
              <a:pPr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5415659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685800" y="2125980"/>
            <a:ext cx="7772400" cy="14401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371600" y="3840480"/>
            <a:ext cx="6400800" cy="17145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>
              <a:defRPr sz="1200" b="0" i="0">
                <a:solidFill>
                  <a:schemeClr val="bg1"/>
                </a:solidFill>
                <a:latin typeface="Arial"/>
                <a:cs typeface="Arial"/>
              </a:defRPr>
            </a:lvl1pPr>
          </a:lstStyle>
          <a:p>
            <a:pPr marL="12700">
              <a:lnSpc>
                <a:spcPts val="1425"/>
              </a:lnSpc>
            </a:pPr>
            <a:r>
              <a:rPr lang="en-US" spc="-5"/>
              <a:t>S. B. Jain Institute of Technology Management and research</a:t>
            </a:r>
            <a:endParaRPr dirty="0"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B85C42F-1CBF-4C6A-B882-9D2111338B27}" type="datetime1">
              <a:rPr lang="en-US" smtClean="0"/>
              <a:t>10/12/2026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600" b="0" i="0">
                <a:solidFill>
                  <a:schemeClr val="bg1"/>
                </a:solidFill>
                <a:latin typeface="Arial"/>
                <a:cs typeface="Arial"/>
              </a:defRPr>
            </a:lvl1pPr>
          </a:lstStyle>
          <a:p>
            <a:pPr marL="38100">
              <a:lnSpc>
                <a:spcPts val="1870"/>
              </a:lnSpc>
            </a:pPr>
            <a:fld id="{81D60167-4931-47E6-BA6A-407CBD079E47}" type="slidenum">
              <a:rPr dirty="0"/>
              <a:pPr marL="38100">
                <a:lnSpc>
                  <a:spcPts val="1870"/>
                </a:lnSpc>
              </a:pPr>
              <a:t>‹#›</a:t>
            </a:fld>
            <a:endParaRPr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2400" b="0" i="0">
                <a:solidFill>
                  <a:schemeClr val="tx1"/>
                </a:solidFill>
                <a:latin typeface="Arial"/>
                <a:cs typeface="Arial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 b="0" i="0">
                <a:solidFill>
                  <a:schemeClr val="tx1"/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>
              <a:defRPr sz="1200" b="0" i="0">
                <a:solidFill>
                  <a:schemeClr val="bg1"/>
                </a:solidFill>
                <a:latin typeface="Arial"/>
                <a:cs typeface="Arial"/>
              </a:defRPr>
            </a:lvl1pPr>
          </a:lstStyle>
          <a:p>
            <a:pPr marL="12700">
              <a:lnSpc>
                <a:spcPts val="1425"/>
              </a:lnSpc>
            </a:pPr>
            <a:r>
              <a:rPr lang="en-US" spc="-5"/>
              <a:t>S. B. Jain Institute of Technology Management and research</a:t>
            </a:r>
            <a:endParaRPr dirty="0"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7891B3E-447D-4E1C-8947-BD55B1F89A0A}" type="datetime1">
              <a:rPr lang="en-US" smtClean="0"/>
              <a:t>10/12/2026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600" b="0" i="0">
                <a:solidFill>
                  <a:schemeClr val="bg1"/>
                </a:solidFill>
                <a:latin typeface="Arial"/>
                <a:cs typeface="Arial"/>
              </a:defRPr>
            </a:lvl1pPr>
          </a:lstStyle>
          <a:p>
            <a:pPr marL="38100">
              <a:lnSpc>
                <a:spcPts val="1870"/>
              </a:lnSpc>
            </a:pPr>
            <a:fld id="{81D60167-4931-47E6-BA6A-407CBD079E47}" type="slidenum">
              <a:rPr dirty="0"/>
              <a:pPr marL="38100">
                <a:lnSpc>
                  <a:spcPts val="1870"/>
                </a:lnSpc>
              </a:pPr>
              <a:t>‹#›</a:t>
            </a:fld>
            <a:endParaRPr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2400" b="0" i="0">
                <a:solidFill>
                  <a:schemeClr val="tx1"/>
                </a:solidFill>
                <a:latin typeface="Arial"/>
                <a:cs typeface="Arial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457200" y="1577340"/>
            <a:ext cx="397764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4709160" y="1577340"/>
            <a:ext cx="397764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>
              <a:defRPr sz="1200" b="0" i="0">
                <a:solidFill>
                  <a:schemeClr val="bg1"/>
                </a:solidFill>
                <a:latin typeface="Arial"/>
                <a:cs typeface="Arial"/>
              </a:defRPr>
            </a:lvl1pPr>
          </a:lstStyle>
          <a:p>
            <a:pPr marL="12700">
              <a:lnSpc>
                <a:spcPts val="1425"/>
              </a:lnSpc>
            </a:pPr>
            <a:r>
              <a:rPr lang="en-US" spc="-5"/>
              <a:t>S. B. Jain Institute of Technology Management and research</a:t>
            </a:r>
            <a:endParaRPr dirty="0"/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33ED53B-E317-4FB2-8A8D-871B2784CE10}" type="datetime1">
              <a:rPr lang="en-US" smtClean="0"/>
              <a:t>10/12/2026</a:t>
            </a:fld>
            <a:endParaRPr lang="en-US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600" b="0" i="0">
                <a:solidFill>
                  <a:schemeClr val="bg1"/>
                </a:solidFill>
                <a:latin typeface="Arial"/>
                <a:cs typeface="Arial"/>
              </a:defRPr>
            </a:lvl1pPr>
          </a:lstStyle>
          <a:p>
            <a:pPr marL="38100">
              <a:lnSpc>
                <a:spcPts val="1870"/>
              </a:lnSpc>
            </a:pPr>
            <a:fld id="{81D60167-4931-47E6-BA6A-407CBD079E47}" type="slidenum">
              <a:rPr dirty="0"/>
              <a:pPr marL="38100">
                <a:lnSpc>
                  <a:spcPts val="1870"/>
                </a:lnSpc>
              </a:pPr>
              <a:t>‹#›</a:t>
            </a:fld>
            <a:endParaRPr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2400" b="0" i="0">
                <a:solidFill>
                  <a:schemeClr val="tx1"/>
                </a:solidFill>
                <a:latin typeface="Arial"/>
                <a:cs typeface="Arial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>
              <a:defRPr sz="1200" b="0" i="0">
                <a:solidFill>
                  <a:schemeClr val="bg1"/>
                </a:solidFill>
                <a:latin typeface="Arial"/>
                <a:cs typeface="Arial"/>
              </a:defRPr>
            </a:lvl1pPr>
          </a:lstStyle>
          <a:p>
            <a:pPr marL="12700">
              <a:lnSpc>
                <a:spcPts val="1425"/>
              </a:lnSpc>
            </a:pPr>
            <a:r>
              <a:rPr lang="en-US" spc="-5"/>
              <a:t>S. B. Jain Institute of Technology Management and research</a:t>
            </a:r>
            <a:endParaRPr dirty="0"/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3F43EB6-EEF9-4730-B39F-C1E9EC0E2379}" type="datetime1">
              <a:rPr lang="en-US" smtClean="0"/>
              <a:t>10/12/2026</a:t>
            </a:fld>
            <a:endParaRPr lang="en-US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600" b="0" i="0">
                <a:solidFill>
                  <a:schemeClr val="bg1"/>
                </a:solidFill>
                <a:latin typeface="Arial"/>
                <a:cs typeface="Arial"/>
              </a:defRPr>
            </a:lvl1pPr>
          </a:lstStyle>
          <a:p>
            <a:pPr marL="38100">
              <a:lnSpc>
                <a:spcPts val="1870"/>
              </a:lnSpc>
            </a:pPr>
            <a:fld id="{81D60167-4931-47E6-BA6A-407CBD079E47}" type="slidenum">
              <a:rPr dirty="0"/>
              <a:pPr marL="38100">
                <a:lnSpc>
                  <a:spcPts val="1870"/>
                </a:lnSpc>
              </a:pPr>
              <a:t>‹#›</a:t>
            </a:fld>
            <a:endParaRPr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>
              <a:defRPr sz="1200" b="0" i="0">
                <a:solidFill>
                  <a:schemeClr val="bg1"/>
                </a:solidFill>
                <a:latin typeface="Arial"/>
                <a:cs typeface="Arial"/>
              </a:defRPr>
            </a:lvl1pPr>
          </a:lstStyle>
          <a:p>
            <a:pPr marL="12700">
              <a:lnSpc>
                <a:spcPts val="1425"/>
              </a:lnSpc>
            </a:pPr>
            <a:r>
              <a:rPr lang="en-US" spc="-5"/>
              <a:t>S. B. Jain Institute of Technology Management and research</a:t>
            </a:r>
            <a:endParaRPr dirty="0"/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39D6A69-E8A8-4719-9000-213BF16B839B}" type="datetime1">
              <a:rPr lang="en-US" smtClean="0"/>
              <a:t>10/12/2026</a:t>
            </a:fld>
            <a:endParaRPr lang="en-US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600" b="0" i="0">
                <a:solidFill>
                  <a:schemeClr val="bg1"/>
                </a:solidFill>
                <a:latin typeface="Arial"/>
                <a:cs typeface="Arial"/>
              </a:defRPr>
            </a:lvl1pPr>
          </a:lstStyle>
          <a:p>
            <a:pPr marL="38100">
              <a:lnSpc>
                <a:spcPts val="1870"/>
              </a:lnSpc>
            </a:pPr>
            <a:fld id="{81D60167-4931-47E6-BA6A-407CBD079E47}" type="slidenum">
              <a:rPr dirty="0"/>
              <a:pPr marL="38100">
                <a:lnSpc>
                  <a:spcPts val="1870"/>
                </a:lnSpc>
              </a:pPr>
              <a:t>‹#›</a:t>
            </a:fld>
            <a:endParaRPr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g object 16"/>
          <p:cNvSpPr/>
          <p:nvPr/>
        </p:nvSpPr>
        <p:spPr>
          <a:xfrm>
            <a:off x="146050" y="6390640"/>
            <a:ext cx="8832850" cy="309880"/>
          </a:xfrm>
          <a:custGeom>
            <a:avLst/>
            <a:gdLst/>
            <a:ahLst/>
            <a:cxnLst/>
            <a:rect l="l" t="t" r="r" b="b"/>
            <a:pathLst>
              <a:path w="8832850" h="309879">
                <a:moveTo>
                  <a:pt x="8832850" y="0"/>
                </a:moveTo>
                <a:lnTo>
                  <a:pt x="0" y="0"/>
                </a:lnTo>
                <a:lnTo>
                  <a:pt x="0" y="309880"/>
                </a:lnTo>
                <a:lnTo>
                  <a:pt x="8832850" y="309880"/>
                </a:lnTo>
                <a:close/>
              </a:path>
            </a:pathLst>
          </a:custGeom>
          <a:solidFill>
            <a:srgbClr val="8BACAD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" name="bg object 17"/>
          <p:cNvSpPr/>
          <p:nvPr/>
        </p:nvSpPr>
        <p:spPr>
          <a:xfrm>
            <a:off x="152400" y="158750"/>
            <a:ext cx="8832850" cy="6546850"/>
          </a:xfrm>
          <a:custGeom>
            <a:avLst/>
            <a:gdLst/>
            <a:ahLst/>
            <a:cxnLst/>
            <a:rect l="l" t="t" r="r" b="b"/>
            <a:pathLst>
              <a:path w="8832850" h="6546850">
                <a:moveTo>
                  <a:pt x="4415790" y="6546850"/>
                </a:moveTo>
                <a:lnTo>
                  <a:pt x="0" y="6546850"/>
                </a:lnTo>
                <a:lnTo>
                  <a:pt x="0" y="0"/>
                </a:lnTo>
                <a:lnTo>
                  <a:pt x="8832850" y="0"/>
                </a:lnTo>
                <a:lnTo>
                  <a:pt x="8832850" y="6546850"/>
                </a:lnTo>
                <a:lnTo>
                  <a:pt x="4415790" y="6546850"/>
                </a:lnTo>
                <a:close/>
              </a:path>
            </a:pathLst>
          </a:custGeom>
          <a:ln w="9344">
            <a:solidFill>
              <a:srgbClr val="7A9798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670559" y="346709"/>
            <a:ext cx="7802880" cy="39115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400" b="0" i="0">
                <a:solidFill>
                  <a:schemeClr val="tx1"/>
                </a:solidFill>
                <a:latin typeface="Arial"/>
                <a:cs typeface="Arial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762000" y="1828800"/>
            <a:ext cx="7471409" cy="38100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b="0" i="0">
                <a:solidFill>
                  <a:schemeClr val="tx1"/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382270" y="6458416"/>
            <a:ext cx="3950970" cy="19621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200" b="0" i="0">
                <a:solidFill>
                  <a:schemeClr val="bg1"/>
                </a:solidFill>
                <a:latin typeface="Arial"/>
                <a:cs typeface="Arial"/>
              </a:defRPr>
            </a:lvl1pPr>
          </a:lstStyle>
          <a:p>
            <a:pPr marL="12700">
              <a:lnSpc>
                <a:spcPts val="1425"/>
              </a:lnSpc>
            </a:pPr>
            <a:r>
              <a:rPr lang="en-US" spc="-5"/>
              <a:t>S. B. Jain Institute of Technology Management and research</a:t>
            </a:r>
            <a:endParaRPr dirty="0"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457200" y="6377940"/>
            <a:ext cx="210312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E9300D4-36A4-4C00-9038-1A5D5B872909}" type="datetime1">
              <a:rPr lang="en-US" smtClean="0"/>
              <a:t>10/12/2026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8459469" y="6430208"/>
            <a:ext cx="302259" cy="25272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600" b="0" i="0">
                <a:solidFill>
                  <a:schemeClr val="bg1"/>
                </a:solidFill>
                <a:latin typeface="Arial"/>
                <a:cs typeface="Arial"/>
              </a:defRPr>
            </a:lvl1pPr>
          </a:lstStyle>
          <a:p>
            <a:pPr marL="38100">
              <a:lnSpc>
                <a:spcPts val="1870"/>
              </a:lnSpc>
            </a:pPr>
            <a:fld id="{81D60167-4931-47E6-BA6A-407CBD079E47}" type="slidenum">
              <a:rPr dirty="0"/>
              <a:pPr marL="38100">
                <a:lnSpc>
                  <a:spcPts val="1870"/>
                </a:lnSpc>
              </a:pPr>
              <a:t>‹#›</a:t>
            </a:fld>
            <a:endParaRPr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</p:sldLayoutIdLst>
  <p:hf sldNum="0" hdr="0" dt="0"/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04800" y="304800"/>
            <a:ext cx="8305800" cy="3398366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algn="ctr">
              <a:lnSpc>
                <a:spcPct val="100000"/>
              </a:lnSpc>
              <a:spcBef>
                <a:spcPts val="100"/>
              </a:spcBef>
            </a:pPr>
            <a:r>
              <a:rPr lang="en-US" sz="3200" b="1" dirty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Experiential Learning</a:t>
            </a:r>
            <a:br>
              <a:rPr lang="en-US" sz="3200" b="1" dirty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</a:br>
            <a:r>
              <a:rPr lang="en-US" sz="3200" b="1" dirty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Project Assessment-I</a:t>
            </a:r>
            <a:br>
              <a:rPr lang="en-US" sz="3200" b="1" dirty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</a:br>
            <a:r>
              <a:rPr lang="en-US" sz="3200" b="1" dirty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on</a:t>
            </a:r>
            <a:br>
              <a:rPr lang="en-US" sz="3200" b="1" dirty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</a:br>
            <a:r>
              <a:rPr lang="en-US" sz="3200" b="1" dirty="0">
                <a:solidFill>
                  <a:srgbClr val="0000FF"/>
                </a:solidFill>
                <a:latin typeface="Times New Roman" pitchFamily="18" charset="0"/>
                <a:cs typeface="Times New Roman" pitchFamily="18" charset="0"/>
              </a:rPr>
              <a:t>“</a:t>
            </a:r>
            <a:r>
              <a:rPr lang="en-US" sz="3200" dirty="0"/>
              <a:t>Simple Password Generator</a:t>
            </a:r>
            <a:r>
              <a:rPr lang="en-US" sz="3200" b="1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”</a:t>
            </a:r>
            <a:br>
              <a:rPr lang="en-US" sz="3200" b="1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2800" b="1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under the course</a:t>
            </a:r>
            <a:br>
              <a:rPr lang="en-US" sz="3200" b="1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b="1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Python Programming Language (N-PCCCM304P)</a:t>
            </a:r>
            <a:br>
              <a:rPr lang="en-US" sz="3200" b="1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endParaRPr sz="3200" dirty="0">
              <a:solidFill>
                <a:srgbClr val="0000FF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9" name="CustomShape 2"/>
          <p:cNvSpPr/>
          <p:nvPr/>
        </p:nvSpPr>
        <p:spPr>
          <a:xfrm>
            <a:off x="685800" y="3295692"/>
            <a:ext cx="2743200" cy="1504908"/>
          </a:xfrm>
          <a:prstGeom prst="rect">
            <a:avLst/>
          </a:prstGeom>
          <a:noFill/>
          <a:ln>
            <a:noFill/>
          </a:ln>
        </p:spPr>
        <p:txBody>
          <a:bodyPr lIns="90000" tIns="45000" rIns="90000" bIns="45000"/>
          <a:lstStyle/>
          <a:p>
            <a:pPr>
              <a:lnSpc>
                <a:spcPct val="100000"/>
              </a:lnSpc>
            </a:pPr>
            <a:r>
              <a:rPr lang="en-IN" sz="2000" b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Presented By : 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00000"/>
              </a:lnSpc>
            </a:pPr>
            <a:r>
              <a:rPr lang="en-IN" sz="2000" b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Siddhi Bamnote</a:t>
            </a:r>
          </a:p>
          <a:p>
            <a:pPr>
              <a:lnSpc>
                <a:spcPct val="100000"/>
              </a:lnSpc>
            </a:pPr>
            <a:r>
              <a:rPr lang="en-IN" sz="2000" b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[CM25053]                        </a:t>
            </a:r>
            <a:endParaRPr dirty="0">
              <a:solidFill>
                <a:srgbClr val="0000FF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2" name="CustomShape 3"/>
          <p:cNvSpPr/>
          <p:nvPr/>
        </p:nvSpPr>
        <p:spPr>
          <a:xfrm>
            <a:off x="5305425" y="3277000"/>
            <a:ext cx="3409950" cy="1222560"/>
          </a:xfrm>
          <a:prstGeom prst="rect">
            <a:avLst/>
          </a:prstGeom>
          <a:noFill/>
          <a:ln>
            <a:noFill/>
          </a:ln>
        </p:spPr>
        <p:txBody>
          <a:bodyPr wrap="none" lIns="90000" tIns="45000" rIns="90000" bIns="45000"/>
          <a:lstStyle/>
          <a:p>
            <a:pPr algn="ctr">
              <a:lnSpc>
                <a:spcPct val="100000"/>
              </a:lnSpc>
            </a:pP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Under the Guidance </a:t>
            </a:r>
          </a:p>
          <a:p>
            <a:pPr algn="ctr">
              <a:lnSpc>
                <a:spcPct val="100000"/>
              </a:lnSpc>
            </a:pP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of </a:t>
            </a:r>
            <a:endParaRPr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>
              <a:lnSpc>
                <a:spcPct val="100000"/>
              </a:lnSpc>
            </a:pP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Mrs. Suchita </a:t>
            </a:r>
            <a:r>
              <a:rPr lang="en-US" sz="20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Meshkar</a:t>
            </a:r>
            <a:endParaRPr lang="en-IN" sz="2000" dirty="0">
              <a:solidFill>
                <a:srgbClr val="0000FF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3" name="CustomShape 5"/>
          <p:cNvSpPr/>
          <p:nvPr/>
        </p:nvSpPr>
        <p:spPr>
          <a:xfrm>
            <a:off x="1447800" y="4648200"/>
            <a:ext cx="6629040" cy="397800"/>
          </a:xfrm>
          <a:prstGeom prst="rect">
            <a:avLst/>
          </a:prstGeom>
          <a:noFill/>
          <a:ln>
            <a:noFill/>
          </a:ln>
        </p:spPr>
        <p:txBody>
          <a:bodyPr lIns="90000" tIns="45000" rIns="90000" bIns="45000"/>
          <a:lstStyle/>
          <a:p>
            <a:pPr algn="ctr">
              <a:lnSpc>
                <a:spcPct val="100000"/>
              </a:lnSpc>
            </a:pPr>
            <a:r>
              <a:rPr lang="en-IN" sz="2200" b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Session:2026-27 (ODD )</a:t>
            </a:r>
          </a:p>
          <a:p>
            <a:pPr algn="ctr">
              <a:lnSpc>
                <a:spcPct val="100000"/>
              </a:lnSpc>
            </a:pPr>
            <a:r>
              <a:rPr lang="en-IN" b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Department of CSE(AI&amp;ML)</a:t>
            </a:r>
          </a:p>
          <a:p>
            <a:pPr>
              <a:lnSpc>
                <a:spcPct val="100000"/>
              </a:lnSpc>
            </a:pPr>
            <a:endParaRPr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4" name="CustomShape 4"/>
          <p:cNvSpPr/>
          <p:nvPr/>
        </p:nvSpPr>
        <p:spPr>
          <a:xfrm>
            <a:off x="457200" y="5334000"/>
            <a:ext cx="8229600" cy="914400"/>
          </a:xfrm>
          <a:prstGeom prst="rect">
            <a:avLst/>
          </a:prstGeom>
          <a:noFill/>
          <a:ln>
            <a:noFill/>
          </a:ln>
        </p:spPr>
        <p:txBody>
          <a:bodyPr lIns="90000" tIns="45000" rIns="90000" bIns="45000"/>
          <a:lstStyle/>
          <a:p>
            <a:pPr algn="ctr">
              <a:lnSpc>
                <a:spcPct val="93000"/>
              </a:lnSpc>
            </a:pPr>
            <a:r>
              <a:rPr lang="en-IN" sz="2200" b="1" dirty="0">
                <a:solidFill>
                  <a:srgbClr val="000000"/>
                </a:solidFill>
                <a:latin typeface="Times New Roman" panose="02020603050405020304" pitchFamily="18" charset="0"/>
                <a:ea typeface="DejaVu Sans"/>
                <a:cs typeface="Times New Roman" panose="02020603050405020304" pitchFamily="18" charset="0"/>
              </a:rPr>
              <a:t>      </a:t>
            </a:r>
            <a:r>
              <a:rPr lang="en-IN" sz="2000" b="1" dirty="0">
                <a:solidFill>
                  <a:srgbClr val="000000"/>
                </a:solidFill>
                <a:latin typeface="Times New Roman" pitchFamily="18" charset="0"/>
                <a:ea typeface="DejaVu Sans"/>
                <a:cs typeface="Times New Roman" pitchFamily="18" charset="0"/>
              </a:rPr>
              <a:t>S. B. JAIN INSTITUTE OF TECHNOLOGY MANAGEMENT AND RESEARCH,NAGPUR</a:t>
            </a:r>
          </a:p>
          <a:p>
            <a:pPr algn="ctr">
              <a:lnSpc>
                <a:spcPct val="93000"/>
              </a:lnSpc>
            </a:pPr>
            <a:r>
              <a:rPr lang="en-IN" sz="2000" b="1" dirty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An Autonomous Institute, Affiliated to RTMNU, Nagpur</a:t>
            </a:r>
            <a:endParaRPr sz="2000" dirty="0">
              <a:latin typeface="Times New Roman" pitchFamily="18" charset="0"/>
              <a:cs typeface="Times New Roman" pitchFamily="18" charset="0"/>
            </a:endParaRPr>
          </a:p>
        </p:txBody>
      </p:sp>
      <p:pic>
        <p:nvPicPr>
          <p:cNvPr id="1026" name="Picture 2" descr="C:\Users\PROJECT LAB\Desktop\College LOGO.png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3838575" y="3286617"/>
            <a:ext cx="1466850" cy="1066801"/>
          </a:xfrm>
          <a:prstGeom prst="rect">
            <a:avLst/>
          </a:prstGeom>
          <a:noFill/>
        </p:spPr>
      </p:pic>
      <p:sp>
        <p:nvSpPr>
          <p:cNvPr id="4" name="Footer Placeholder 3"/>
          <p:cNvSpPr>
            <a:spLocks noGrp="1"/>
          </p:cNvSpPr>
          <p:nvPr>
            <p:ph type="ftr" sz="quarter" idx="5"/>
          </p:nvPr>
        </p:nvSpPr>
        <p:spPr>
          <a:xfrm>
            <a:off x="3352800" y="6477000"/>
            <a:ext cx="5637530" cy="215444"/>
          </a:xfrm>
        </p:spPr>
        <p:txBody>
          <a:bodyPr/>
          <a:lstStyle/>
          <a:p>
            <a:pPr algn="r">
              <a:lnSpc>
                <a:spcPct val="100000"/>
              </a:lnSpc>
            </a:pPr>
            <a:r>
              <a:rPr lang="en-US" sz="1400" b="1" dirty="0"/>
              <a:t>)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64B4BAB-5BA1-CFF1-888A-00EB381D381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B0056E2-805C-50A3-7FD5-A1AA3FAD8D3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97535" y="533400"/>
            <a:ext cx="7802880" cy="738664"/>
          </a:xfrm>
        </p:spPr>
        <p:txBody>
          <a:bodyPr/>
          <a:lstStyle/>
          <a:p>
            <a:r>
              <a:rPr lang="en-US" b="1" u="sng" dirty="0"/>
              <a:t>Problem statement</a:t>
            </a:r>
            <a:br>
              <a:rPr lang="en-US" dirty="0"/>
            </a:b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0D3B38D-C3A3-1E45-97CA-375FB3F3600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10505" y="1371600"/>
            <a:ext cx="7471409" cy="2492990"/>
          </a:xfrm>
        </p:spPr>
        <p:txBody>
          <a:bodyPr/>
          <a:lstStyle/>
          <a:p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People often use weak passwords like their names or 123456.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Weak passwords are very easy for hackers to guess.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It is hard for users to create strong, random passwords by themselves.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We need a simple Python program to make safe passwords automatically.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4B99BE6D-C41B-A4B2-9041-18E0C65235FC}"/>
              </a:ext>
            </a:extLst>
          </p:cNvPr>
          <p:cNvSpPr>
            <a:spLocks noGrp="1"/>
          </p:cNvSpPr>
          <p:nvPr>
            <p:ph type="ftr" sz="quarter" idx="5"/>
          </p:nvPr>
        </p:nvSpPr>
        <p:spPr/>
        <p:txBody>
          <a:bodyPr/>
          <a:lstStyle/>
          <a:p>
            <a:pPr marL="12700">
              <a:lnSpc>
                <a:spcPts val="1425"/>
              </a:lnSpc>
            </a:pPr>
            <a:r>
              <a:rPr lang="en-US" spc="-5"/>
              <a:t>S. B. Jain Institute of Technology Management and research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5412984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B8E575C-6BD6-7BCE-8917-E5B0FB0B75B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603AC6C-F3DD-688F-7001-D7DDAFADC5B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97535" y="685800"/>
            <a:ext cx="7802880" cy="369332"/>
          </a:xfrm>
        </p:spPr>
        <p:txBody>
          <a:bodyPr/>
          <a:lstStyle/>
          <a:p>
            <a:r>
              <a:rPr lang="en-US" dirty="0"/>
              <a:t>  </a:t>
            </a:r>
            <a:r>
              <a:rPr lang="en-US" b="1" u="sng" dirty="0"/>
              <a:t>Objectives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8832033-8BC6-6E98-4874-C4754690942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597535" y="1752600"/>
            <a:ext cx="7471409" cy="3046988"/>
          </a:xfrm>
        </p:spPr>
        <p:txBody>
          <a:bodyPr/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To build a simple tool that creates strong and random passwords.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To let the user choose how long the password should be.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To let the user pick capital letters, small letters, numbers, and symbols.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To make sure at least one character from each choice is included.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To show if the generated password is Weak, Medium, or Strong.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/>
          </a:p>
          <a:p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F319456-9B61-EBDA-E596-862E207E7AAF}"/>
              </a:ext>
            </a:extLst>
          </p:cNvPr>
          <p:cNvSpPr>
            <a:spLocks noGrp="1"/>
          </p:cNvSpPr>
          <p:nvPr>
            <p:ph type="ftr" sz="quarter" idx="5"/>
          </p:nvPr>
        </p:nvSpPr>
        <p:spPr/>
        <p:txBody>
          <a:bodyPr/>
          <a:lstStyle/>
          <a:p>
            <a:pPr marL="12700">
              <a:lnSpc>
                <a:spcPts val="1425"/>
              </a:lnSpc>
            </a:pPr>
            <a:r>
              <a:rPr lang="en-US" spc="-5"/>
              <a:t>S. B. Jain Institute of Technology Management and research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8405128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7E55FFF-D19A-3FF8-5DD9-48672D16D38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175021E-3D25-1996-821D-911CE214B98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01363" y="573661"/>
            <a:ext cx="7802880" cy="369332"/>
          </a:xfrm>
        </p:spPr>
        <p:txBody>
          <a:bodyPr/>
          <a:lstStyle/>
          <a:p>
            <a:r>
              <a:rPr lang="en-US" u="sng" dirty="0"/>
              <a:t>  </a:t>
            </a:r>
            <a:r>
              <a:rPr lang="en-US" b="1" u="sng" dirty="0"/>
              <a:t>Algorithm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F0F9636-CD36-82B3-BCB4-75F5DA07424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701363" y="1113693"/>
            <a:ext cx="7471409" cy="4708981"/>
          </a:xfrm>
        </p:spPr>
        <p:txBody>
          <a:bodyPr/>
          <a:lstStyle/>
          <a:p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Start the program.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Ask the user for the password length.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Ask the user to choose uppercase, lowercase, numbers, and symbols</a:t>
            </a:r>
          </a:p>
          <a:p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Mix all chosen character types together.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Pick random characters until the full length is ready.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Shuffle the characters so the order is random.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Show the password and its strength rating.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Stop the program.</a:t>
            </a:r>
          </a:p>
          <a:p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74941C27-3575-FD8A-8FE0-64AC69EA3953}"/>
              </a:ext>
            </a:extLst>
          </p:cNvPr>
          <p:cNvSpPr>
            <a:spLocks noGrp="1"/>
          </p:cNvSpPr>
          <p:nvPr>
            <p:ph type="ftr" sz="quarter" idx="5"/>
          </p:nvPr>
        </p:nvSpPr>
        <p:spPr/>
        <p:txBody>
          <a:bodyPr/>
          <a:lstStyle/>
          <a:p>
            <a:pPr marL="12700">
              <a:lnSpc>
                <a:spcPts val="1425"/>
              </a:lnSpc>
            </a:pPr>
            <a:r>
              <a:rPr lang="en-US" spc="-5"/>
              <a:t>S. B. Jain Institute of Technology Management and research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0837779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7530010-0200-2C17-F61E-32E0CEA264A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C3AC2AF-BA95-D7FC-9C10-A858C41CC6C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0559" y="346709"/>
            <a:ext cx="7802880" cy="369332"/>
          </a:xfrm>
        </p:spPr>
        <p:txBody>
          <a:bodyPr/>
          <a:lstStyle/>
          <a:p>
            <a:r>
              <a:rPr lang="en-US" dirty="0"/>
              <a:t>   </a:t>
            </a:r>
            <a:r>
              <a:rPr lang="en-US" b="1" u="sng" dirty="0"/>
              <a:t>Flowchart/pseudocode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5F2496E-C4FA-A60F-F95F-C7CC08A0BBF1}"/>
              </a:ext>
            </a:extLst>
          </p:cNvPr>
          <p:cNvSpPr>
            <a:spLocks noGrp="1"/>
          </p:cNvSpPr>
          <p:nvPr>
            <p:ph type="ftr" sz="quarter" idx="5"/>
          </p:nvPr>
        </p:nvSpPr>
        <p:spPr/>
        <p:txBody>
          <a:bodyPr/>
          <a:lstStyle/>
          <a:p>
            <a:pPr marL="12700">
              <a:lnSpc>
                <a:spcPts val="1425"/>
              </a:lnSpc>
            </a:pPr>
            <a:r>
              <a:rPr lang="en-US" spc="-5"/>
              <a:t>S. B. Jain Institute of Technology Management and research</a:t>
            </a:r>
            <a:endParaRPr lang="en-US" dirty="0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AA2E9A56-5D1F-5884-C7BD-D1EE8C580B06}"/>
              </a:ext>
            </a:extLst>
          </p:cNvPr>
          <p:cNvSpPr/>
          <p:nvPr/>
        </p:nvSpPr>
        <p:spPr>
          <a:xfrm>
            <a:off x="1075689" y="841443"/>
            <a:ext cx="6772910" cy="296694"/>
          </a:xfrm>
          <a:prstGeom prst="rect">
            <a:avLst/>
          </a:prstGeom>
          <a:ln>
            <a:solidFill>
              <a:schemeClr val="bg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dirty="0">
              <a:ln>
                <a:solidFill>
                  <a:schemeClr val="bg1"/>
                </a:solidFill>
              </a:ln>
            </a:endParaRPr>
          </a:p>
        </p:txBody>
      </p:sp>
      <p:sp>
        <p:nvSpPr>
          <p:cNvPr id="8" name="Flowchart: Alternate Process 7">
            <a:extLst>
              <a:ext uri="{FF2B5EF4-FFF2-40B4-BE49-F238E27FC236}">
                <a16:creationId xmlns:a16="http://schemas.microsoft.com/office/drawing/2014/main" id="{E140CD75-4D57-1A01-DF63-489C6A85EDC1}"/>
              </a:ext>
            </a:extLst>
          </p:cNvPr>
          <p:cNvSpPr/>
          <p:nvPr/>
        </p:nvSpPr>
        <p:spPr>
          <a:xfrm>
            <a:off x="3886200" y="1058889"/>
            <a:ext cx="1100456" cy="321126"/>
          </a:xfrm>
          <a:prstGeom prst="flowChartAlternateProcess">
            <a:avLst/>
          </a:prstGeom>
          <a:solidFill>
            <a:schemeClr val="accent3">
              <a:lumMod val="40000"/>
              <a:lumOff val="60000"/>
            </a:schemeClr>
          </a:solidFill>
          <a:ln w="9525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rgbClr val="000000"/>
                </a:solidFill>
              </a:rPr>
              <a:t>Start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D5C70E75-6AFF-D8D1-3FE0-63521A5E9DAF}"/>
              </a:ext>
            </a:extLst>
          </p:cNvPr>
          <p:cNvSpPr/>
          <p:nvPr/>
        </p:nvSpPr>
        <p:spPr>
          <a:xfrm>
            <a:off x="2887284" y="1607189"/>
            <a:ext cx="3086100" cy="381000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ln w="635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>
                <a:solidFill>
                  <a:schemeClr val="tx1"/>
                </a:solidFill>
              </a:rPr>
              <a:t>1. User Enters Password Length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D2656C3E-A724-ECCC-6DD7-65F1D50ED06F}"/>
              </a:ext>
            </a:extLst>
          </p:cNvPr>
          <p:cNvSpPr/>
          <p:nvPr/>
        </p:nvSpPr>
        <p:spPr>
          <a:xfrm>
            <a:off x="2408016" y="2231802"/>
            <a:ext cx="4056824" cy="515270"/>
          </a:xfrm>
          <a:prstGeom prst="rect">
            <a:avLst/>
          </a:prstGeom>
          <a:solidFill>
            <a:schemeClr val="accent6">
              <a:lumMod val="60000"/>
              <a:lumOff val="40000"/>
            </a:schemeClr>
          </a:solidFill>
          <a:ln w="635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>
                <a:solidFill>
                  <a:schemeClr val="tx1"/>
                </a:solidFill>
              </a:rPr>
              <a:t>2. User Selects Letter/Number/Symbol Types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72CBC0F1-367B-D8FF-BF33-2D41419F7CCD}"/>
              </a:ext>
            </a:extLst>
          </p:cNvPr>
          <p:cNvSpPr/>
          <p:nvPr/>
        </p:nvSpPr>
        <p:spPr>
          <a:xfrm>
            <a:off x="2665161" y="3001746"/>
            <a:ext cx="3524251" cy="289747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ln w="635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>
                <a:solidFill>
                  <a:schemeClr val="tx1"/>
                </a:solidFill>
              </a:rPr>
              <a:t>3. Mix Chosen Character Groups Together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39ABD62F-A7BE-8D69-36CD-E77069A2CA19}"/>
              </a:ext>
            </a:extLst>
          </p:cNvPr>
          <p:cNvSpPr/>
          <p:nvPr/>
        </p:nvSpPr>
        <p:spPr>
          <a:xfrm>
            <a:off x="2408016" y="3586268"/>
            <a:ext cx="4056824" cy="436079"/>
          </a:xfrm>
          <a:prstGeom prst="rect">
            <a:avLst/>
          </a:prstGeom>
          <a:solidFill>
            <a:schemeClr val="accent6">
              <a:lumMod val="60000"/>
              <a:lumOff val="40000"/>
            </a:schemeClr>
          </a:solidFill>
          <a:ln w="635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>
                <a:solidFill>
                  <a:schemeClr val="tx1"/>
                </a:solidFill>
              </a:rPr>
              <a:t>4. Pick Characters Randomly 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3A87DC4D-E21E-A468-F297-BB303977B65B}"/>
              </a:ext>
            </a:extLst>
          </p:cNvPr>
          <p:cNvSpPr/>
          <p:nvPr/>
        </p:nvSpPr>
        <p:spPr>
          <a:xfrm>
            <a:off x="2893378" y="4288712"/>
            <a:ext cx="3086100" cy="359488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ln w="635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>
                <a:solidFill>
                  <a:schemeClr val="tx1"/>
                </a:solidFill>
              </a:rPr>
              <a:t>5. Shuffle Everything </a:t>
            </a:r>
          </a:p>
        </p:txBody>
      </p:sp>
      <p:sp>
        <p:nvSpPr>
          <p:cNvPr id="14" name="Rectangle: Rounded Corners 13">
            <a:extLst>
              <a:ext uri="{FF2B5EF4-FFF2-40B4-BE49-F238E27FC236}">
                <a16:creationId xmlns:a16="http://schemas.microsoft.com/office/drawing/2014/main" id="{77BAB616-5FA7-3B23-9D78-48D941A74865}"/>
              </a:ext>
            </a:extLst>
          </p:cNvPr>
          <p:cNvSpPr/>
          <p:nvPr/>
        </p:nvSpPr>
        <p:spPr>
          <a:xfrm>
            <a:off x="3923099" y="5517823"/>
            <a:ext cx="1066800" cy="304800"/>
          </a:xfrm>
          <a:prstGeom prst="roundRect">
            <a:avLst/>
          </a:prstGeom>
          <a:solidFill>
            <a:schemeClr val="accent2">
              <a:lumMod val="20000"/>
              <a:lumOff val="80000"/>
            </a:schemeClr>
          </a:solidFill>
          <a:ln w="635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End</a:t>
            </a:r>
          </a:p>
        </p:txBody>
      </p:sp>
      <p:cxnSp>
        <p:nvCxnSpPr>
          <p:cNvPr id="16" name="Straight Arrow Connector 15">
            <a:extLst>
              <a:ext uri="{FF2B5EF4-FFF2-40B4-BE49-F238E27FC236}">
                <a16:creationId xmlns:a16="http://schemas.microsoft.com/office/drawing/2014/main" id="{514D5137-32AF-5D62-ACED-35DD8DC9C3A6}"/>
              </a:ext>
            </a:extLst>
          </p:cNvPr>
          <p:cNvCxnSpPr>
            <a:cxnSpLocks/>
            <a:stCxn id="8" idx="2"/>
            <a:endCxn id="9" idx="0"/>
          </p:cNvCxnSpPr>
          <p:nvPr/>
        </p:nvCxnSpPr>
        <p:spPr>
          <a:xfrm flipH="1">
            <a:off x="4430334" y="1380015"/>
            <a:ext cx="6094" cy="227174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Straight Arrow Connector 19">
            <a:extLst>
              <a:ext uri="{FF2B5EF4-FFF2-40B4-BE49-F238E27FC236}">
                <a16:creationId xmlns:a16="http://schemas.microsoft.com/office/drawing/2014/main" id="{820B5276-DF7B-6E81-BB0B-8D848EDE11DC}"/>
              </a:ext>
            </a:extLst>
          </p:cNvPr>
          <p:cNvCxnSpPr>
            <a:cxnSpLocks/>
            <a:stCxn id="9" idx="2"/>
          </p:cNvCxnSpPr>
          <p:nvPr/>
        </p:nvCxnSpPr>
        <p:spPr>
          <a:xfrm flipH="1">
            <a:off x="4424240" y="1988189"/>
            <a:ext cx="6094" cy="204422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" name="Straight Arrow Connector 27">
            <a:extLst>
              <a:ext uri="{FF2B5EF4-FFF2-40B4-BE49-F238E27FC236}">
                <a16:creationId xmlns:a16="http://schemas.microsoft.com/office/drawing/2014/main" id="{0E44D82E-F361-8EA9-39F1-B3A52EF3EC09}"/>
              </a:ext>
            </a:extLst>
          </p:cNvPr>
          <p:cNvCxnSpPr>
            <a:cxnSpLocks/>
          </p:cNvCxnSpPr>
          <p:nvPr/>
        </p:nvCxnSpPr>
        <p:spPr>
          <a:xfrm>
            <a:off x="4417979" y="3319903"/>
            <a:ext cx="0" cy="266365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" name="Straight Arrow Connector 28">
            <a:extLst>
              <a:ext uri="{FF2B5EF4-FFF2-40B4-BE49-F238E27FC236}">
                <a16:creationId xmlns:a16="http://schemas.microsoft.com/office/drawing/2014/main" id="{A03CF781-7734-FE0A-1B2F-85B237808ABD}"/>
              </a:ext>
            </a:extLst>
          </p:cNvPr>
          <p:cNvCxnSpPr>
            <a:cxnSpLocks/>
          </p:cNvCxnSpPr>
          <p:nvPr/>
        </p:nvCxnSpPr>
        <p:spPr>
          <a:xfrm>
            <a:off x="4447162" y="4022347"/>
            <a:ext cx="0" cy="266365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" name="Straight Arrow Connector 29">
            <a:extLst>
              <a:ext uri="{FF2B5EF4-FFF2-40B4-BE49-F238E27FC236}">
                <a16:creationId xmlns:a16="http://schemas.microsoft.com/office/drawing/2014/main" id="{5D9E7498-9C4F-8AB0-6921-FDC2F36BE8FC}"/>
              </a:ext>
            </a:extLst>
          </p:cNvPr>
          <p:cNvCxnSpPr>
            <a:cxnSpLocks/>
            <a:stCxn id="13" idx="2"/>
          </p:cNvCxnSpPr>
          <p:nvPr/>
        </p:nvCxnSpPr>
        <p:spPr>
          <a:xfrm flipH="1">
            <a:off x="4430334" y="4648200"/>
            <a:ext cx="6094" cy="279254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6" name="Straight Arrow Connector 35">
            <a:extLst>
              <a:ext uri="{FF2B5EF4-FFF2-40B4-BE49-F238E27FC236}">
                <a16:creationId xmlns:a16="http://schemas.microsoft.com/office/drawing/2014/main" id="{F8FB7FAD-DB57-A092-1881-06B668EABD50}"/>
              </a:ext>
            </a:extLst>
          </p:cNvPr>
          <p:cNvCxnSpPr>
            <a:cxnSpLocks/>
          </p:cNvCxnSpPr>
          <p:nvPr/>
        </p:nvCxnSpPr>
        <p:spPr>
          <a:xfrm>
            <a:off x="4410074" y="2747072"/>
            <a:ext cx="0" cy="266365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8" name="Rectangle 37">
            <a:extLst>
              <a:ext uri="{FF2B5EF4-FFF2-40B4-BE49-F238E27FC236}">
                <a16:creationId xmlns:a16="http://schemas.microsoft.com/office/drawing/2014/main" id="{A5B526B3-C00D-92F2-32D2-5A7FAFF79F44}"/>
              </a:ext>
            </a:extLst>
          </p:cNvPr>
          <p:cNvSpPr/>
          <p:nvPr/>
        </p:nvSpPr>
        <p:spPr>
          <a:xfrm>
            <a:off x="3147179" y="4924506"/>
            <a:ext cx="2665374" cy="304799"/>
          </a:xfrm>
          <a:prstGeom prst="rect">
            <a:avLst/>
          </a:prstGeom>
          <a:solidFill>
            <a:schemeClr val="accent6">
              <a:lumMod val="60000"/>
              <a:lumOff val="40000"/>
            </a:schemeClr>
          </a:solidFill>
          <a:ln w="635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>
                <a:solidFill>
                  <a:schemeClr val="tx1"/>
                </a:solidFill>
              </a:rPr>
              <a:t>6. Show Password and Strength</a:t>
            </a:r>
          </a:p>
        </p:txBody>
      </p:sp>
      <p:cxnSp>
        <p:nvCxnSpPr>
          <p:cNvPr id="40" name="Straight Arrow Connector 39">
            <a:extLst>
              <a:ext uri="{FF2B5EF4-FFF2-40B4-BE49-F238E27FC236}">
                <a16:creationId xmlns:a16="http://schemas.microsoft.com/office/drawing/2014/main" id="{992DB1E0-FF97-35E7-458E-BAF36A4BC8F1}"/>
              </a:ext>
            </a:extLst>
          </p:cNvPr>
          <p:cNvCxnSpPr>
            <a:cxnSpLocks/>
            <a:stCxn id="38" idx="2"/>
            <a:endCxn id="14" idx="0"/>
          </p:cNvCxnSpPr>
          <p:nvPr/>
        </p:nvCxnSpPr>
        <p:spPr>
          <a:xfrm flipH="1">
            <a:off x="4456499" y="5229305"/>
            <a:ext cx="23367" cy="288518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13399305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1029" y="457200"/>
            <a:ext cx="7802880" cy="369332"/>
          </a:xfrm>
        </p:spPr>
        <p:txBody>
          <a:bodyPr/>
          <a:lstStyle/>
          <a:p>
            <a:r>
              <a:rPr lang="en-US" dirty="0"/>
              <a:t> </a:t>
            </a:r>
            <a:r>
              <a:rPr lang="en-US" b="1" u="sng" dirty="0"/>
              <a:t>Understanding of Python logic</a:t>
            </a: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5"/>
          </p:nvPr>
        </p:nvSpPr>
        <p:spPr/>
        <p:txBody>
          <a:bodyPr/>
          <a:lstStyle/>
          <a:p>
            <a:pPr marL="12700">
              <a:lnSpc>
                <a:spcPts val="1425"/>
              </a:lnSpc>
            </a:pPr>
            <a:r>
              <a:rPr lang="en-US" spc="-5"/>
              <a:t>S. B. Jain Institute of Technology Management and research</a:t>
            </a:r>
            <a:endParaRPr lang="en-US" dirty="0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06D5F1B1-F025-4189-06F7-4FE51FDE6DB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85800" y="1371600"/>
            <a:ext cx="6892319" cy="3124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2907114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4EC2E5A-693D-7A9F-305F-37709C745F6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DCE877A-8023-E924-763E-C23E1809E2A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3529" y="476205"/>
            <a:ext cx="7802880" cy="369332"/>
          </a:xfrm>
        </p:spPr>
        <p:txBody>
          <a:bodyPr/>
          <a:lstStyle/>
          <a:p>
            <a:r>
              <a:rPr lang="en-US" b="1" u="sng" dirty="0"/>
              <a:t>How it works &amp; benefits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B97E5FD-D627-BAEA-C3CA-9934E9B1D5F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70559" y="1219200"/>
            <a:ext cx="7471409" cy="4431983"/>
          </a:xfrm>
        </p:spPr>
        <p:txBody>
          <a:bodyPr/>
          <a:lstStyle/>
          <a:p>
            <a:pPr marL="285750" indent="-285750">
              <a:buFont typeface="Wingdings" panose="05000000000000000000" pitchFamily="2" charset="2"/>
              <a:buChar char="q"/>
            </a:pPr>
            <a:r>
              <a:rPr lang="en-US" b="1" dirty="0"/>
              <a:t>Simple Flow:</a:t>
            </a:r>
          </a:p>
          <a:p>
            <a:endParaRPr lang="en-US" dirty="0"/>
          </a:p>
          <a:p>
            <a:r>
              <a:rPr lang="en-US" dirty="0"/>
              <a:t>User Options  </a:t>
            </a:r>
            <a:r>
              <a:rPr lang="en-US" sz="1400" dirty="0">
                <a:sym typeface="Wingdings" panose="05000000000000000000" pitchFamily="2" charset="2"/>
              </a:rPr>
              <a:t> </a:t>
            </a:r>
            <a:r>
              <a:rPr lang="en-US" dirty="0"/>
              <a:t>Combine Letters &amp; Numbers  </a:t>
            </a:r>
            <a:r>
              <a:rPr lang="en-US" dirty="0">
                <a:sym typeface="Wingdings" panose="05000000000000000000" pitchFamily="2" charset="2"/>
              </a:rPr>
              <a:t> </a:t>
            </a:r>
            <a:r>
              <a:rPr lang="en-US" dirty="0"/>
              <a:t> Pick Randomly  </a:t>
            </a:r>
            <a:r>
              <a:rPr lang="en-US" dirty="0">
                <a:sym typeface="Wingdings" panose="05000000000000000000" pitchFamily="2" charset="2"/>
              </a:rPr>
              <a:t>  </a:t>
            </a:r>
            <a:r>
              <a:rPr lang="en-US" dirty="0"/>
              <a:t>Safe Password</a:t>
            </a:r>
          </a:p>
          <a:p>
            <a:endParaRPr lang="en-US" dirty="0"/>
          </a:p>
          <a:p>
            <a:pPr marL="285750" indent="-285750">
              <a:buFont typeface="Wingdings" panose="05000000000000000000" pitchFamily="2" charset="2"/>
              <a:buChar char="q"/>
            </a:pPr>
            <a:r>
              <a:rPr lang="en-US" b="1" dirty="0"/>
              <a:t>How it Works:</a:t>
            </a:r>
          </a:p>
          <a:p>
            <a:endParaRPr lang="en-US" b="1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b="1" dirty="0"/>
              <a:t> User Choice:</a:t>
            </a:r>
            <a:r>
              <a:rPr lang="en-US" dirty="0"/>
              <a:t> User picks length and what characters to add.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b="1" dirty="0"/>
              <a:t> Random Pick:</a:t>
            </a:r>
            <a:r>
              <a:rPr lang="en-US" dirty="0"/>
              <a:t> Uses Python's secure secrets tool to pick random items.</a:t>
            </a:r>
            <a:r>
              <a:rPr lang="en-US" b="1" dirty="0"/>
              <a:t>                     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b="1" dirty="0"/>
              <a:t> Strength Check:</a:t>
            </a:r>
            <a:r>
              <a:rPr lang="en-US" dirty="0"/>
              <a:t> Checks if password is long and has mixed characters.</a:t>
            </a:r>
          </a:p>
          <a:p>
            <a:pPr lvl="1"/>
            <a:endParaRPr lang="en-US" dirty="0"/>
          </a:p>
          <a:p>
            <a:pPr marL="285750" indent="-285750">
              <a:buFont typeface="Wingdings" panose="05000000000000000000" pitchFamily="2" charset="2"/>
              <a:buChar char="q"/>
            </a:pPr>
            <a:r>
              <a:rPr lang="en-US" b="1" dirty="0"/>
              <a:t>Benefits:</a:t>
            </a:r>
          </a:p>
          <a:p>
            <a:pPr marL="285750" indent="-285750">
              <a:buFont typeface="Wingdings" panose="05000000000000000000" pitchFamily="2" charset="2"/>
              <a:buChar char="q"/>
            </a:pPr>
            <a:endParaRPr lang="en-US" dirty="0"/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/>
              <a:t>Makes passwords impossible to guess.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/>
              <a:t>Keeps online accounts safe from hackers.</a:t>
            </a:r>
          </a:p>
          <a:p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766C8675-034C-1AF4-B302-5183FBE67A1F}"/>
              </a:ext>
            </a:extLst>
          </p:cNvPr>
          <p:cNvSpPr>
            <a:spLocks noGrp="1"/>
          </p:cNvSpPr>
          <p:nvPr>
            <p:ph type="ftr" sz="quarter" idx="5"/>
          </p:nvPr>
        </p:nvSpPr>
        <p:spPr/>
        <p:txBody>
          <a:bodyPr/>
          <a:lstStyle/>
          <a:p>
            <a:pPr marL="12700">
              <a:lnSpc>
                <a:spcPts val="1425"/>
              </a:lnSpc>
            </a:pPr>
            <a:r>
              <a:rPr lang="en-US" spc="-5"/>
              <a:t>S. B. Jain Institute of Technology Management and research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3040734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F05ABF0-7022-B6D0-A4F3-677A7790BA8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76DC769-38B8-B22F-2B5F-728031AC47D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04823" y="609600"/>
            <a:ext cx="7802880" cy="369332"/>
          </a:xfrm>
        </p:spPr>
        <p:txBody>
          <a:bodyPr/>
          <a:lstStyle/>
          <a:p>
            <a:r>
              <a:rPr lang="en-US" b="1" u="sng" dirty="0"/>
              <a:t>GitHub Details &amp; My Contribution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747B765-7FB0-10A6-8DD7-942B3A817BB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597535" y="1480185"/>
            <a:ext cx="7471409" cy="2492990"/>
          </a:xfrm>
        </p:spPr>
        <p:txBody>
          <a:bodyPr/>
          <a:lstStyle/>
          <a:p>
            <a:r>
              <a:rPr lang="en-US" b="1" dirty="0"/>
              <a:t>Repository Name : </a:t>
            </a:r>
            <a:r>
              <a:rPr lang="en-US" dirty="0"/>
              <a:t>Python-simple-password-generator </a:t>
            </a:r>
          </a:p>
          <a:p>
            <a:endParaRPr lang="en-US" dirty="0"/>
          </a:p>
          <a:p>
            <a:r>
              <a:rPr lang="en-US" b="1" dirty="0"/>
              <a:t>My Contribution:</a:t>
            </a:r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Understood the security needs and designed the simple algorithm.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Wrote the Python code using secrets and string.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Added safety checks and password strength test.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Created the GitHub repo and made this presentation.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/>
          </a:p>
          <a:p>
            <a:pPr fontAlgn="t"/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FC59F88D-625D-0D5D-26EF-200280B3042F}"/>
              </a:ext>
            </a:extLst>
          </p:cNvPr>
          <p:cNvSpPr>
            <a:spLocks noGrp="1"/>
          </p:cNvSpPr>
          <p:nvPr>
            <p:ph type="ftr" sz="quarter" idx="5"/>
          </p:nvPr>
        </p:nvSpPr>
        <p:spPr/>
        <p:txBody>
          <a:bodyPr/>
          <a:lstStyle/>
          <a:p>
            <a:pPr marL="12700">
              <a:lnSpc>
                <a:spcPts val="1425"/>
              </a:lnSpc>
            </a:pPr>
            <a:r>
              <a:rPr lang="en-US" spc="-5"/>
              <a:t>S. B. Jain Institute of Technology Management and research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4503683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9516B0F-53FA-62AD-C2EC-E712AEBEF68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DAA0AAB-CC70-FBFA-4C02-C86E401E1BC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0560" y="457200"/>
            <a:ext cx="7802880" cy="369332"/>
          </a:xfrm>
        </p:spPr>
        <p:txBody>
          <a:bodyPr/>
          <a:lstStyle/>
          <a:p>
            <a:r>
              <a:rPr lang="en-US" b="1" u="sng" dirty="0"/>
              <a:t>Result / Expected Output</a:t>
            </a:r>
            <a:endParaRPr lang="en-US" u="sng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8A8E4F9B-E5B0-17DE-01BF-057FCC542909}"/>
              </a:ext>
            </a:extLst>
          </p:cNvPr>
          <p:cNvSpPr>
            <a:spLocks noGrp="1"/>
          </p:cNvSpPr>
          <p:nvPr>
            <p:ph type="ftr" sz="quarter" idx="5"/>
          </p:nvPr>
        </p:nvSpPr>
        <p:spPr/>
        <p:txBody>
          <a:bodyPr/>
          <a:lstStyle/>
          <a:p>
            <a:pPr marL="12700">
              <a:lnSpc>
                <a:spcPts val="1425"/>
              </a:lnSpc>
            </a:pPr>
            <a:r>
              <a:rPr lang="en-US" spc="-5"/>
              <a:t>S. B. Jain Institute of Technology Management and research</a:t>
            </a:r>
            <a:endParaRPr lang="en-US" dirty="0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D0893462-F7C4-C9A3-F788-091F5FB63A0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83374" y="1371600"/>
            <a:ext cx="6203224" cy="2895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0593173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97A7C77-398A-8F06-1AA4-23DD775D4FB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4" name="CustomShape 1">
            <a:extLst>
              <a:ext uri="{FF2B5EF4-FFF2-40B4-BE49-F238E27FC236}">
                <a16:creationId xmlns:a16="http://schemas.microsoft.com/office/drawing/2014/main" id="{365BF5D2-D588-281F-B917-8E5B0DD91361}"/>
              </a:ext>
            </a:extLst>
          </p:cNvPr>
          <p:cNvSpPr/>
          <p:nvPr/>
        </p:nvSpPr>
        <p:spPr>
          <a:xfrm>
            <a:off x="703384" y="2895480"/>
            <a:ext cx="7626462" cy="1316520"/>
          </a:xfrm>
          <a:prstGeom prst="rect">
            <a:avLst/>
          </a:prstGeom>
          <a:noFill/>
          <a:ln>
            <a:noFill/>
          </a:ln>
        </p:spPr>
        <p:txBody>
          <a:bodyPr lIns="90000" tIns="45000" rIns="90000" bIns="45000"/>
          <a:lstStyle/>
          <a:p>
            <a:pPr>
              <a:lnSpc>
                <a:spcPct val="100000"/>
              </a:lnSpc>
            </a:pPr>
            <a:r>
              <a:rPr lang="en-IN" sz="2800" dirty="0">
                <a:solidFill>
                  <a:srgbClr val="0000FF"/>
                </a:solidFill>
                <a:latin typeface="Arial"/>
              </a:rPr>
              <a:t>                       </a:t>
            </a:r>
            <a:r>
              <a:rPr lang="en-IN" sz="4800" b="1" dirty="0">
                <a:solidFill>
                  <a:srgbClr val="0000FF"/>
                </a:solidFill>
                <a:latin typeface="Arial"/>
              </a:rPr>
              <a:t>Phase 2</a:t>
            </a:r>
            <a:endParaRPr dirty="0"/>
          </a:p>
          <a:p>
            <a:pPr>
              <a:lnSpc>
                <a:spcPct val="100000"/>
              </a:lnSpc>
            </a:pPr>
            <a:r>
              <a:rPr lang="en-IN" sz="4800" dirty="0">
                <a:solidFill>
                  <a:srgbClr val="0000FF"/>
                </a:solidFill>
                <a:latin typeface="Arial"/>
              </a:rPr>
              <a:t> </a:t>
            </a:r>
            <a:endParaRPr dirty="0"/>
          </a:p>
        </p:txBody>
      </p:sp>
      <p:sp>
        <p:nvSpPr>
          <p:cNvPr id="3" name="TextShape 3">
            <a:extLst>
              <a:ext uri="{FF2B5EF4-FFF2-40B4-BE49-F238E27FC236}">
                <a16:creationId xmlns:a16="http://schemas.microsoft.com/office/drawing/2014/main" id="{EB1BB899-1213-C158-E09A-DBD3FF3082B1}"/>
              </a:ext>
            </a:extLst>
          </p:cNvPr>
          <p:cNvSpPr txBox="1"/>
          <p:nvPr/>
        </p:nvSpPr>
        <p:spPr>
          <a:xfrm>
            <a:off x="410400" y="6172200"/>
            <a:ext cx="6681877" cy="685440"/>
          </a:xfrm>
          <a:prstGeom prst="rect">
            <a:avLst/>
          </a:prstGeom>
        </p:spPr>
        <p:txBody>
          <a:bodyPr anchor="ctr"/>
          <a:lstStyle/>
          <a:p>
            <a:pPr>
              <a:lnSpc>
                <a:spcPct val="100000"/>
              </a:lnSpc>
            </a:pPr>
            <a:r>
              <a:rPr lang="en-IN" dirty="0">
                <a:solidFill>
                  <a:srgbClr val="8B8B8B"/>
                </a:solidFill>
                <a:latin typeface="Cambria"/>
              </a:rPr>
              <a:t>S. B. Jain Institute of Technology Management and research</a:t>
            </a: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4108065094"/>
      </p:ext>
    </p:extLst>
  </p:cSld>
  <p:clrMapOvr>
    <a:masterClrMapping/>
  </p:clrMapOvr>
  <p:timing>
    <p:tnLst>
      <p:par>
        <p:cTn id="1" dur="indefinite" restart="never" nodeType="tmRoot">
          <p:childTnLst>
            <p:seq>
              <p:cTn id="2" nodeType="mainSeq"/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98EC56C-FBEA-FF0B-6CE9-9D374E2097D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0559" y="346709"/>
            <a:ext cx="7802880" cy="369332"/>
          </a:xfrm>
        </p:spPr>
        <p:txBody>
          <a:bodyPr/>
          <a:lstStyle/>
          <a:p>
            <a:r>
              <a:rPr lang="en-US" dirty="0"/>
              <a:t>Phase 2 : Code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DB34137-D9F2-5033-2BEC-F7F5603795F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70560" y="838200"/>
            <a:ext cx="7562850" cy="4800600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4A9B856-95A1-735D-BE0C-53D46BDB2289}"/>
              </a:ext>
            </a:extLst>
          </p:cNvPr>
          <p:cNvSpPr>
            <a:spLocks noGrp="1"/>
          </p:cNvSpPr>
          <p:nvPr>
            <p:ph type="ftr" sz="quarter" idx="5"/>
          </p:nvPr>
        </p:nvSpPr>
        <p:spPr/>
        <p:txBody>
          <a:bodyPr/>
          <a:lstStyle/>
          <a:p>
            <a:pPr marL="12700">
              <a:lnSpc>
                <a:spcPts val="1425"/>
              </a:lnSpc>
            </a:pPr>
            <a:r>
              <a:rPr lang="en-US" spc="-5"/>
              <a:t>S. B. Jain Institute of Technology Management and research</a:t>
            </a:r>
            <a:endParaRPr lang="en-US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0E579C4D-A880-5C56-DDDB-0CC874017B8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70559" y="838200"/>
            <a:ext cx="7562851" cy="54101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7621981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16717AA-947A-0842-01B9-AE46C9D58DA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4AC7FD5-2F70-C54D-76B7-A160BAA9B0E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70560" y="838200"/>
            <a:ext cx="7562850" cy="4800600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2DD2B7B1-71E7-0799-F9BC-17FE23428D5A}"/>
              </a:ext>
            </a:extLst>
          </p:cNvPr>
          <p:cNvSpPr>
            <a:spLocks noGrp="1"/>
          </p:cNvSpPr>
          <p:nvPr>
            <p:ph type="ftr" sz="quarter" idx="5"/>
          </p:nvPr>
        </p:nvSpPr>
        <p:spPr/>
        <p:txBody>
          <a:bodyPr/>
          <a:lstStyle/>
          <a:p>
            <a:pPr marL="12700">
              <a:lnSpc>
                <a:spcPts val="1425"/>
              </a:lnSpc>
            </a:pPr>
            <a:r>
              <a:rPr lang="en-US" spc="-5"/>
              <a:t>S. B. Jain Institute of Technology Management and research</a:t>
            </a:r>
            <a:endParaRPr lang="en-US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7E4DB46C-7409-C676-560C-A194E7DE0BD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34364" y="763063"/>
            <a:ext cx="7635241" cy="533187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29140639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48A4178-DCA6-433D-7A12-547359F93BC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F4C1236-1799-2555-F7B2-7FA91D8420D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70560" y="838200"/>
            <a:ext cx="7562850" cy="4800600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A0745761-CC30-6578-AD35-AE3EC4450913}"/>
              </a:ext>
            </a:extLst>
          </p:cNvPr>
          <p:cNvSpPr>
            <a:spLocks noGrp="1"/>
          </p:cNvSpPr>
          <p:nvPr>
            <p:ph type="ftr" sz="quarter" idx="5"/>
          </p:nvPr>
        </p:nvSpPr>
        <p:spPr/>
        <p:txBody>
          <a:bodyPr/>
          <a:lstStyle/>
          <a:p>
            <a:pPr marL="12700">
              <a:lnSpc>
                <a:spcPts val="1425"/>
              </a:lnSpc>
            </a:pPr>
            <a:r>
              <a:rPr lang="en-US" spc="-5"/>
              <a:t>S. B. Jain Institute of Technology Management and research</a:t>
            </a:r>
            <a:endParaRPr lang="en-US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7F9A1ECF-CD76-CFD1-6F64-B42A4CA2D2A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70560" y="592449"/>
            <a:ext cx="7562850" cy="545615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1863397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1895899-4DE6-91CB-4C62-0438A03074E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F59C6B9-2DAC-3DF5-2A53-51CE15B8CA7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70560" y="838200"/>
            <a:ext cx="7562850" cy="4800600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99186595-2605-AC32-7391-59E048746D58}"/>
              </a:ext>
            </a:extLst>
          </p:cNvPr>
          <p:cNvSpPr>
            <a:spLocks noGrp="1"/>
          </p:cNvSpPr>
          <p:nvPr>
            <p:ph type="ftr" sz="quarter" idx="5"/>
          </p:nvPr>
        </p:nvSpPr>
        <p:spPr/>
        <p:txBody>
          <a:bodyPr/>
          <a:lstStyle/>
          <a:p>
            <a:pPr marL="12700">
              <a:lnSpc>
                <a:spcPts val="1425"/>
              </a:lnSpc>
            </a:pPr>
            <a:r>
              <a:rPr lang="en-US" spc="-5"/>
              <a:t>S. B. Jain Institute of Technology Management and research</a:t>
            </a:r>
            <a:endParaRPr lang="en-US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6C67AF5E-A326-631F-D097-FE1D0A883BB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81909" y="838200"/>
            <a:ext cx="7562850" cy="4800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87015671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A772BC1-E507-2C19-2135-04185B4BF18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DA67D95-4D63-A1A3-CEE2-46799F02BF0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70560" y="838200"/>
            <a:ext cx="7562850" cy="4800600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8914C955-70DC-FEF8-6787-D8396B553B7B}"/>
              </a:ext>
            </a:extLst>
          </p:cNvPr>
          <p:cNvSpPr>
            <a:spLocks noGrp="1"/>
          </p:cNvSpPr>
          <p:nvPr>
            <p:ph type="ftr" sz="quarter" idx="5"/>
          </p:nvPr>
        </p:nvSpPr>
        <p:spPr/>
        <p:txBody>
          <a:bodyPr/>
          <a:lstStyle/>
          <a:p>
            <a:pPr marL="12700">
              <a:lnSpc>
                <a:spcPts val="1425"/>
              </a:lnSpc>
            </a:pPr>
            <a:r>
              <a:rPr lang="en-US" spc="-5"/>
              <a:t>S. B. Jain Institute of Technology Management and research</a:t>
            </a:r>
            <a:endParaRPr lang="en-US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4291FF1E-6A59-F5B8-3FCB-F8D9FE59DED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65696" y="838200"/>
            <a:ext cx="7640104" cy="484493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09841436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B7DF7BA-8686-4A54-8442-A1BC16F6A37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A503A58-CF3B-DC70-04A1-0A39BE86ABC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04823" y="609600"/>
            <a:ext cx="7802880" cy="369332"/>
          </a:xfrm>
        </p:spPr>
        <p:txBody>
          <a:bodyPr/>
          <a:lstStyle/>
          <a:p>
            <a:r>
              <a:rPr lang="en-US" b="1" u="sng" dirty="0"/>
              <a:t>Phase 2 – Improvements Made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1561FC7-87FA-F8FD-CCFB-EAC729E3EE4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504823" y="1262420"/>
            <a:ext cx="7471409" cy="4985980"/>
          </a:xfrm>
        </p:spPr>
        <p:txBody>
          <a:bodyPr/>
          <a:lstStyle/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US" dirty="0"/>
              <a:t>Added </a:t>
            </a:r>
            <a:r>
              <a:rPr lang="en-US" b="1" dirty="0"/>
              <a:t>password length checking</a:t>
            </a:r>
            <a:r>
              <a:rPr lang="en-US" dirty="0"/>
              <a:t> 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endParaRPr lang="en-US" dirty="0"/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US" dirty="0"/>
              <a:t>Added options for </a:t>
            </a:r>
            <a:r>
              <a:rPr lang="en-US" b="1" dirty="0"/>
              <a:t>Capital letters, Numbers and Special characters</a:t>
            </a:r>
          </a:p>
          <a:p>
            <a:pPr lvl="0"/>
            <a:endParaRPr lang="en-US" dirty="0"/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US" dirty="0"/>
              <a:t>Made sure </a:t>
            </a:r>
            <a:r>
              <a:rPr lang="en-US" b="1" dirty="0"/>
              <a:t>at least one character</a:t>
            </a:r>
            <a:r>
              <a:rPr lang="en-US" dirty="0"/>
              <a:t> from each selected option is included 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endParaRPr lang="en-US" dirty="0"/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US" dirty="0"/>
              <a:t>Added </a:t>
            </a:r>
            <a:r>
              <a:rPr lang="en-US" b="1" dirty="0"/>
              <a:t>random password generation</a:t>
            </a:r>
            <a:r>
              <a:rPr lang="en-US" dirty="0"/>
              <a:t> 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endParaRPr lang="en-US" dirty="0"/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US" dirty="0"/>
              <a:t>Added </a:t>
            </a:r>
            <a:r>
              <a:rPr lang="en-US" b="1" dirty="0"/>
              <a:t>password shuffling</a:t>
            </a:r>
            <a:r>
              <a:rPr lang="en-US" dirty="0"/>
              <a:t> 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endParaRPr lang="en-US" dirty="0"/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US" dirty="0"/>
              <a:t>Added </a:t>
            </a:r>
            <a:r>
              <a:rPr lang="en-US" b="1" dirty="0"/>
              <a:t>password strength checking</a:t>
            </a:r>
            <a:r>
              <a:rPr lang="en-US" dirty="0"/>
              <a:t> 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endParaRPr lang="en-US" dirty="0"/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US" dirty="0"/>
              <a:t>Shows password as </a:t>
            </a:r>
            <a:r>
              <a:rPr lang="en-US" b="1" dirty="0"/>
              <a:t>Weak, Moderate or Strong</a:t>
            </a:r>
            <a:r>
              <a:rPr lang="en-US" dirty="0"/>
              <a:t> 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endParaRPr lang="en-US" dirty="0"/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US" dirty="0"/>
              <a:t>Improved the </a:t>
            </a:r>
            <a:r>
              <a:rPr lang="en-US" b="1" dirty="0"/>
              <a:t>output screen</a:t>
            </a:r>
            <a:r>
              <a:rPr lang="en-US" dirty="0"/>
              <a:t> 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endParaRPr lang="en-US" dirty="0"/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US" dirty="0"/>
              <a:t>Tested the program with </a:t>
            </a:r>
            <a:r>
              <a:rPr lang="en-US" b="1" dirty="0"/>
              <a:t>different inputs</a:t>
            </a:r>
            <a:r>
              <a:rPr lang="en-US" dirty="0"/>
              <a:t> </a:t>
            </a:r>
          </a:p>
          <a:p>
            <a:pPr fontAlgn="t"/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C87E178-BF63-36F4-E6CA-A7DBC647C65C}"/>
              </a:ext>
            </a:extLst>
          </p:cNvPr>
          <p:cNvSpPr>
            <a:spLocks noGrp="1"/>
          </p:cNvSpPr>
          <p:nvPr>
            <p:ph type="ftr" sz="quarter" idx="5"/>
          </p:nvPr>
        </p:nvSpPr>
        <p:spPr/>
        <p:txBody>
          <a:bodyPr/>
          <a:lstStyle/>
          <a:p>
            <a:pPr marL="12700">
              <a:lnSpc>
                <a:spcPts val="1425"/>
              </a:lnSpc>
            </a:pPr>
            <a:r>
              <a:rPr lang="en-US" spc="-5"/>
              <a:t>S. B. Jain Institute of Technology Management and research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97783700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FFD77FD-7091-5F4A-F03F-BA8CB458A39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C9F68AF-2BBD-20B7-8C6E-664955117B7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04823" y="609600"/>
            <a:ext cx="7802880" cy="369332"/>
          </a:xfrm>
        </p:spPr>
        <p:txBody>
          <a:bodyPr/>
          <a:lstStyle/>
          <a:p>
            <a:r>
              <a:rPr lang="en-US" b="1" u="sng" dirty="0"/>
              <a:t>Technologies Used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5ACF2DC-DC91-4AA6-F4DE-01E633C6068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504823" y="1262420"/>
            <a:ext cx="7471409" cy="3877985"/>
          </a:xfrm>
        </p:spPr>
        <p:txBody>
          <a:bodyPr/>
          <a:lstStyle/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US" b="1" dirty="0"/>
              <a:t>Python</a:t>
            </a:r>
            <a:r>
              <a:rPr lang="en-US" dirty="0"/>
              <a:t> 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endParaRPr lang="en-US" dirty="0"/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US" b="1" dirty="0"/>
              <a:t>Random module</a:t>
            </a:r>
            <a:r>
              <a:rPr lang="en-US" dirty="0"/>
              <a:t> 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endParaRPr lang="en-US" dirty="0"/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US" b="1" dirty="0"/>
              <a:t>String module</a:t>
            </a:r>
            <a:r>
              <a:rPr lang="en-US" dirty="0"/>
              <a:t> 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endParaRPr lang="en-US" dirty="0"/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US" b="1" dirty="0"/>
              <a:t>Functions</a:t>
            </a:r>
            <a:r>
              <a:rPr lang="en-US" dirty="0"/>
              <a:t> 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endParaRPr lang="en-US" dirty="0"/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US" b="1" dirty="0"/>
              <a:t>If-Else</a:t>
            </a:r>
            <a:r>
              <a:rPr lang="en-US" dirty="0"/>
              <a:t> 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endParaRPr lang="en-US" dirty="0"/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US" b="1" dirty="0"/>
              <a:t>Loops</a:t>
            </a:r>
            <a:r>
              <a:rPr lang="en-US" dirty="0"/>
              <a:t> 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endParaRPr lang="en-US" dirty="0"/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US" b="1" dirty="0"/>
              <a:t>User Input</a:t>
            </a:r>
            <a:r>
              <a:rPr lang="en-US" dirty="0"/>
              <a:t> </a:t>
            </a:r>
          </a:p>
          <a:p>
            <a:pPr fontAlgn="t"/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A9C7FF61-2099-68B2-D610-C7E1876A1494}"/>
              </a:ext>
            </a:extLst>
          </p:cNvPr>
          <p:cNvSpPr>
            <a:spLocks noGrp="1"/>
          </p:cNvSpPr>
          <p:nvPr>
            <p:ph type="ftr" sz="quarter" idx="5"/>
          </p:nvPr>
        </p:nvSpPr>
        <p:spPr/>
        <p:txBody>
          <a:bodyPr/>
          <a:lstStyle/>
          <a:p>
            <a:pPr marL="12700">
              <a:lnSpc>
                <a:spcPts val="1425"/>
              </a:lnSpc>
            </a:pPr>
            <a:r>
              <a:rPr lang="en-US" spc="-5"/>
              <a:t>S. B. Jain Institute of Technology Management and research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61927378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9A693C1-938A-162B-E026-0E10D22D7DC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9F7280E-B305-4A92-AF28-1526A316235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0559" y="346709"/>
            <a:ext cx="7802880" cy="369332"/>
          </a:xfrm>
        </p:spPr>
        <p:txBody>
          <a:bodyPr/>
          <a:lstStyle/>
          <a:p>
            <a:r>
              <a:rPr lang="en-US" dirty="0"/>
              <a:t>   </a:t>
            </a:r>
            <a:r>
              <a:rPr lang="en-US" b="1" u="sng" dirty="0"/>
              <a:t>Flowchart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FFE7574E-B512-7D40-9D5F-CF983A04402D}"/>
              </a:ext>
            </a:extLst>
          </p:cNvPr>
          <p:cNvSpPr>
            <a:spLocks noGrp="1"/>
          </p:cNvSpPr>
          <p:nvPr>
            <p:ph type="ftr" sz="quarter" idx="5"/>
          </p:nvPr>
        </p:nvSpPr>
        <p:spPr/>
        <p:txBody>
          <a:bodyPr/>
          <a:lstStyle/>
          <a:p>
            <a:pPr marL="12700">
              <a:lnSpc>
                <a:spcPts val="1425"/>
              </a:lnSpc>
            </a:pPr>
            <a:r>
              <a:rPr lang="en-US" spc="-5"/>
              <a:t>S. B. Jain Institute of Technology Management and research</a:t>
            </a:r>
            <a:endParaRPr lang="en-US" dirty="0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319088D8-5DAD-353B-FDF4-7172A3359B91}"/>
              </a:ext>
            </a:extLst>
          </p:cNvPr>
          <p:cNvSpPr/>
          <p:nvPr/>
        </p:nvSpPr>
        <p:spPr>
          <a:xfrm>
            <a:off x="1075689" y="841443"/>
            <a:ext cx="6772910" cy="296694"/>
          </a:xfrm>
          <a:prstGeom prst="rect">
            <a:avLst/>
          </a:prstGeom>
          <a:ln>
            <a:solidFill>
              <a:schemeClr val="bg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dirty="0">
              <a:ln>
                <a:solidFill>
                  <a:schemeClr val="bg1"/>
                </a:solidFill>
              </a:ln>
            </a:endParaRPr>
          </a:p>
        </p:txBody>
      </p:sp>
      <p:sp>
        <p:nvSpPr>
          <p:cNvPr id="8" name="Flowchart: Alternate Process 7">
            <a:extLst>
              <a:ext uri="{FF2B5EF4-FFF2-40B4-BE49-F238E27FC236}">
                <a16:creationId xmlns:a16="http://schemas.microsoft.com/office/drawing/2014/main" id="{C6B6C918-A4BE-F652-BF1D-A31803A84203}"/>
              </a:ext>
            </a:extLst>
          </p:cNvPr>
          <p:cNvSpPr/>
          <p:nvPr/>
        </p:nvSpPr>
        <p:spPr>
          <a:xfrm>
            <a:off x="3886200" y="1058889"/>
            <a:ext cx="1100456" cy="321126"/>
          </a:xfrm>
          <a:prstGeom prst="flowChartAlternateProcess">
            <a:avLst/>
          </a:prstGeom>
          <a:solidFill>
            <a:schemeClr val="accent3">
              <a:lumMod val="40000"/>
              <a:lumOff val="60000"/>
            </a:schemeClr>
          </a:solidFill>
          <a:ln w="9525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rgbClr val="000000"/>
                </a:solidFill>
              </a:rPr>
              <a:t>Start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3B861ED9-13CF-5A0A-8669-BEABA4D16380}"/>
              </a:ext>
            </a:extLst>
          </p:cNvPr>
          <p:cNvSpPr/>
          <p:nvPr/>
        </p:nvSpPr>
        <p:spPr>
          <a:xfrm>
            <a:off x="2904112" y="1683669"/>
            <a:ext cx="3086100" cy="381000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ln w="635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1400" dirty="0"/>
              <a:t>                          </a:t>
            </a:r>
            <a:r>
              <a:rPr lang="en-US" sz="1400" dirty="0">
                <a:solidFill>
                  <a:schemeClr val="tx1"/>
                </a:solidFill>
              </a:rPr>
              <a:t>Enter Length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F6C62604-C7CC-01D3-2D02-C7403974F082}"/>
              </a:ext>
            </a:extLst>
          </p:cNvPr>
          <p:cNvSpPr/>
          <p:nvPr/>
        </p:nvSpPr>
        <p:spPr>
          <a:xfrm>
            <a:off x="3581401" y="2306379"/>
            <a:ext cx="1600200" cy="429911"/>
          </a:xfrm>
          <a:prstGeom prst="rect">
            <a:avLst/>
          </a:prstGeom>
          <a:solidFill>
            <a:schemeClr val="accent6">
              <a:lumMod val="60000"/>
              <a:lumOff val="40000"/>
            </a:schemeClr>
          </a:solidFill>
          <a:ln w="635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1400" dirty="0"/>
              <a:t>    </a:t>
            </a:r>
            <a:r>
              <a:rPr lang="en-US" sz="1400" dirty="0">
                <a:solidFill>
                  <a:schemeClr val="tx1"/>
                </a:solidFill>
              </a:rPr>
              <a:t>Select Types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BA0C91CA-014A-0F2A-EF0C-4EF62D582567}"/>
              </a:ext>
            </a:extLst>
          </p:cNvPr>
          <p:cNvSpPr/>
          <p:nvPr/>
        </p:nvSpPr>
        <p:spPr>
          <a:xfrm>
            <a:off x="2647948" y="2992867"/>
            <a:ext cx="3524251" cy="289747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ln w="635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1400" dirty="0"/>
              <a:t>                         </a:t>
            </a:r>
            <a:r>
              <a:rPr lang="en-US" sz="1400" dirty="0">
                <a:solidFill>
                  <a:schemeClr val="tx1"/>
                </a:solidFill>
              </a:rPr>
              <a:t>Generate Password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05D12BF1-4818-7E8D-0CCC-14C250E9569C}"/>
              </a:ext>
            </a:extLst>
          </p:cNvPr>
          <p:cNvSpPr/>
          <p:nvPr/>
        </p:nvSpPr>
        <p:spPr>
          <a:xfrm>
            <a:off x="3733800" y="3586268"/>
            <a:ext cx="1252855" cy="436079"/>
          </a:xfrm>
          <a:prstGeom prst="rect">
            <a:avLst/>
          </a:prstGeom>
          <a:solidFill>
            <a:schemeClr val="accent6">
              <a:lumMod val="60000"/>
              <a:lumOff val="40000"/>
            </a:schemeClr>
          </a:solidFill>
          <a:ln w="635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>
                <a:solidFill>
                  <a:schemeClr val="tx1"/>
                </a:solidFill>
              </a:rPr>
              <a:t>Shuffle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E5ABD102-80E1-4084-7634-0AD8420ECCFE}"/>
              </a:ext>
            </a:extLst>
          </p:cNvPr>
          <p:cNvSpPr/>
          <p:nvPr/>
        </p:nvSpPr>
        <p:spPr>
          <a:xfrm>
            <a:off x="2893378" y="4288712"/>
            <a:ext cx="3086100" cy="359488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ln w="635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1400" dirty="0"/>
              <a:t>                       </a:t>
            </a:r>
            <a:r>
              <a:rPr lang="en-US" sz="1400" dirty="0">
                <a:solidFill>
                  <a:schemeClr val="tx1"/>
                </a:solidFill>
              </a:rPr>
              <a:t>Check Strength</a:t>
            </a:r>
          </a:p>
        </p:txBody>
      </p:sp>
      <p:sp>
        <p:nvSpPr>
          <p:cNvPr id="14" name="Rectangle: Rounded Corners 13">
            <a:extLst>
              <a:ext uri="{FF2B5EF4-FFF2-40B4-BE49-F238E27FC236}">
                <a16:creationId xmlns:a16="http://schemas.microsoft.com/office/drawing/2014/main" id="{1BF420DA-39F7-2A50-78B3-09376EC008DD}"/>
              </a:ext>
            </a:extLst>
          </p:cNvPr>
          <p:cNvSpPr/>
          <p:nvPr/>
        </p:nvSpPr>
        <p:spPr>
          <a:xfrm>
            <a:off x="3923099" y="5517823"/>
            <a:ext cx="1066800" cy="304800"/>
          </a:xfrm>
          <a:prstGeom prst="roundRect">
            <a:avLst/>
          </a:prstGeom>
          <a:solidFill>
            <a:schemeClr val="accent2">
              <a:lumMod val="20000"/>
              <a:lumOff val="80000"/>
            </a:schemeClr>
          </a:solidFill>
          <a:ln w="635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End</a:t>
            </a:r>
          </a:p>
        </p:txBody>
      </p:sp>
      <p:cxnSp>
        <p:nvCxnSpPr>
          <p:cNvPr id="16" name="Straight Arrow Connector 15">
            <a:extLst>
              <a:ext uri="{FF2B5EF4-FFF2-40B4-BE49-F238E27FC236}">
                <a16:creationId xmlns:a16="http://schemas.microsoft.com/office/drawing/2014/main" id="{3966F062-429A-9B6B-D359-E468F78192B0}"/>
              </a:ext>
            </a:extLst>
          </p:cNvPr>
          <p:cNvCxnSpPr>
            <a:cxnSpLocks/>
            <a:stCxn id="8" idx="2"/>
            <a:endCxn id="9" idx="0"/>
          </p:cNvCxnSpPr>
          <p:nvPr/>
        </p:nvCxnSpPr>
        <p:spPr>
          <a:xfrm>
            <a:off x="4436428" y="1380015"/>
            <a:ext cx="10734" cy="303654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Straight Arrow Connector 19">
            <a:extLst>
              <a:ext uri="{FF2B5EF4-FFF2-40B4-BE49-F238E27FC236}">
                <a16:creationId xmlns:a16="http://schemas.microsoft.com/office/drawing/2014/main" id="{341D7496-31E4-E9C1-7981-90096773D07B}"/>
              </a:ext>
            </a:extLst>
          </p:cNvPr>
          <p:cNvCxnSpPr>
            <a:cxnSpLocks/>
            <a:stCxn id="9" idx="2"/>
          </p:cNvCxnSpPr>
          <p:nvPr/>
        </p:nvCxnSpPr>
        <p:spPr>
          <a:xfrm flipH="1">
            <a:off x="4441068" y="2064669"/>
            <a:ext cx="6094" cy="204422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" name="Straight Arrow Connector 27">
            <a:extLst>
              <a:ext uri="{FF2B5EF4-FFF2-40B4-BE49-F238E27FC236}">
                <a16:creationId xmlns:a16="http://schemas.microsoft.com/office/drawing/2014/main" id="{A63E98DF-1DC6-BB0F-023D-F178D2C8E7E4}"/>
              </a:ext>
            </a:extLst>
          </p:cNvPr>
          <p:cNvCxnSpPr>
            <a:cxnSpLocks/>
          </p:cNvCxnSpPr>
          <p:nvPr/>
        </p:nvCxnSpPr>
        <p:spPr>
          <a:xfrm>
            <a:off x="4417979" y="3319903"/>
            <a:ext cx="0" cy="266365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" name="Straight Arrow Connector 28">
            <a:extLst>
              <a:ext uri="{FF2B5EF4-FFF2-40B4-BE49-F238E27FC236}">
                <a16:creationId xmlns:a16="http://schemas.microsoft.com/office/drawing/2014/main" id="{CD9A4F56-08EC-6B7F-E974-FEE75EE39590}"/>
              </a:ext>
            </a:extLst>
          </p:cNvPr>
          <p:cNvCxnSpPr>
            <a:cxnSpLocks/>
          </p:cNvCxnSpPr>
          <p:nvPr/>
        </p:nvCxnSpPr>
        <p:spPr>
          <a:xfrm>
            <a:off x="4447162" y="4022347"/>
            <a:ext cx="0" cy="266365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" name="Straight Arrow Connector 29">
            <a:extLst>
              <a:ext uri="{FF2B5EF4-FFF2-40B4-BE49-F238E27FC236}">
                <a16:creationId xmlns:a16="http://schemas.microsoft.com/office/drawing/2014/main" id="{A218BC23-18E2-FF30-53A3-039A0820D7B6}"/>
              </a:ext>
            </a:extLst>
          </p:cNvPr>
          <p:cNvCxnSpPr>
            <a:cxnSpLocks/>
            <a:stCxn id="13" idx="2"/>
          </p:cNvCxnSpPr>
          <p:nvPr/>
        </p:nvCxnSpPr>
        <p:spPr>
          <a:xfrm flipH="1">
            <a:off x="4430334" y="4648200"/>
            <a:ext cx="6094" cy="279254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6" name="Straight Arrow Connector 35">
            <a:extLst>
              <a:ext uri="{FF2B5EF4-FFF2-40B4-BE49-F238E27FC236}">
                <a16:creationId xmlns:a16="http://schemas.microsoft.com/office/drawing/2014/main" id="{E71ED531-1F36-E4EC-9713-EB4ED07ECFFA}"/>
              </a:ext>
            </a:extLst>
          </p:cNvPr>
          <p:cNvCxnSpPr>
            <a:cxnSpLocks/>
          </p:cNvCxnSpPr>
          <p:nvPr/>
        </p:nvCxnSpPr>
        <p:spPr>
          <a:xfrm>
            <a:off x="4410074" y="2747072"/>
            <a:ext cx="0" cy="266365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8" name="Rectangle 37">
            <a:extLst>
              <a:ext uri="{FF2B5EF4-FFF2-40B4-BE49-F238E27FC236}">
                <a16:creationId xmlns:a16="http://schemas.microsoft.com/office/drawing/2014/main" id="{A21CCED0-88D9-2628-9676-A5F72861E7CC}"/>
              </a:ext>
            </a:extLst>
          </p:cNvPr>
          <p:cNvSpPr/>
          <p:nvPr/>
        </p:nvSpPr>
        <p:spPr>
          <a:xfrm>
            <a:off x="3123812" y="4914566"/>
            <a:ext cx="2661294" cy="279254"/>
          </a:xfrm>
          <a:prstGeom prst="rect">
            <a:avLst/>
          </a:prstGeom>
          <a:solidFill>
            <a:schemeClr val="accent6">
              <a:lumMod val="60000"/>
              <a:lumOff val="40000"/>
            </a:schemeClr>
          </a:solidFill>
          <a:ln w="635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1400" dirty="0">
                <a:solidFill>
                  <a:schemeClr val="tx1"/>
                </a:solidFill>
              </a:rPr>
              <a:t>                 Show Result</a:t>
            </a:r>
          </a:p>
        </p:txBody>
      </p:sp>
      <p:cxnSp>
        <p:nvCxnSpPr>
          <p:cNvPr id="40" name="Straight Arrow Connector 39">
            <a:extLst>
              <a:ext uri="{FF2B5EF4-FFF2-40B4-BE49-F238E27FC236}">
                <a16:creationId xmlns:a16="http://schemas.microsoft.com/office/drawing/2014/main" id="{D9A0C965-9A45-8651-1A8B-EEF1EE4129A8}"/>
              </a:ext>
            </a:extLst>
          </p:cNvPr>
          <p:cNvCxnSpPr>
            <a:cxnSpLocks/>
            <a:stCxn id="38" idx="2"/>
            <a:endCxn id="14" idx="0"/>
          </p:cNvCxnSpPr>
          <p:nvPr/>
        </p:nvCxnSpPr>
        <p:spPr>
          <a:xfrm>
            <a:off x="4454459" y="5193820"/>
            <a:ext cx="2040" cy="324003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540427769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0D3DA11-42B4-8589-AD64-1D6A4D1CCDC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D10282F-5BC0-10D8-AEAD-63D46F0C52E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04823" y="609600"/>
            <a:ext cx="7802880" cy="369332"/>
          </a:xfrm>
        </p:spPr>
        <p:txBody>
          <a:bodyPr/>
          <a:lstStyle/>
          <a:p>
            <a:r>
              <a:rPr lang="en-US" b="1" u="sng" dirty="0"/>
              <a:t>Conclusion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6E76C52-F31C-52CB-3CDA-46CEADA3A7D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504823" y="1262420"/>
            <a:ext cx="7471409" cy="2492990"/>
          </a:xfrm>
        </p:spPr>
        <p:txBody>
          <a:bodyPr/>
          <a:lstStyle/>
          <a:p>
            <a:pPr marL="285750" indent="-285750" fontAlgn="t">
              <a:buFont typeface="Arial" panose="020B0604020202020204" pitchFamily="34" charset="0"/>
              <a:buChar char="•"/>
            </a:pPr>
            <a:r>
              <a:rPr lang="en-US" dirty="0"/>
              <a:t>The </a:t>
            </a:r>
            <a:r>
              <a:rPr lang="en-US" b="1" dirty="0"/>
              <a:t>Simple Password Generator</a:t>
            </a:r>
            <a:r>
              <a:rPr lang="en-US" dirty="0"/>
              <a:t> is a simple and useful Python project.</a:t>
            </a:r>
          </a:p>
          <a:p>
            <a:pPr marL="285750" indent="-285750" fontAlgn="t">
              <a:buFont typeface="Arial" panose="020B0604020202020204" pitchFamily="34" charset="0"/>
              <a:buChar char="•"/>
            </a:pPr>
            <a:endParaRPr lang="en-US" dirty="0"/>
          </a:p>
          <a:p>
            <a:pPr marL="285750" indent="-285750" fontAlgn="t">
              <a:buFont typeface="Arial" panose="020B0604020202020204" pitchFamily="34" charset="0"/>
              <a:buChar char="•"/>
            </a:pPr>
            <a:r>
              <a:rPr lang="en-US" dirty="0"/>
              <a:t>It helps users create </a:t>
            </a:r>
            <a:r>
              <a:rPr lang="en-US" b="1" dirty="0"/>
              <a:t>random and strong passwords</a:t>
            </a:r>
            <a:r>
              <a:rPr lang="en-US" dirty="0"/>
              <a:t> easily.</a:t>
            </a:r>
          </a:p>
          <a:p>
            <a:pPr marL="285750" indent="-285750" fontAlgn="t">
              <a:buFont typeface="Arial" panose="020B0604020202020204" pitchFamily="34" charset="0"/>
              <a:buChar char="•"/>
            </a:pPr>
            <a:endParaRPr lang="en-US" dirty="0"/>
          </a:p>
          <a:p>
            <a:pPr marL="285750" indent="-285750" fontAlgn="t">
              <a:buFont typeface="Arial" panose="020B0604020202020204" pitchFamily="34" charset="0"/>
              <a:buChar char="•"/>
            </a:pPr>
            <a:r>
              <a:rPr lang="en-US" dirty="0"/>
              <a:t>The user can choose </a:t>
            </a:r>
            <a:r>
              <a:rPr lang="en-US" b="1" dirty="0"/>
              <a:t>password length and character types</a:t>
            </a:r>
            <a:r>
              <a:rPr lang="en-US" dirty="0"/>
              <a:t>.</a:t>
            </a:r>
          </a:p>
          <a:p>
            <a:pPr marL="285750" indent="-285750" fontAlgn="t">
              <a:buFont typeface="Arial" panose="020B0604020202020204" pitchFamily="34" charset="0"/>
              <a:buChar char="•"/>
            </a:pPr>
            <a:endParaRPr lang="en-US" dirty="0"/>
          </a:p>
          <a:p>
            <a:pPr marL="285750" indent="-285750" fontAlgn="t">
              <a:buFont typeface="Arial" panose="020B0604020202020204" pitchFamily="34" charset="0"/>
              <a:buChar char="•"/>
            </a:pPr>
            <a:r>
              <a:rPr lang="en-US" dirty="0"/>
              <a:t>This project helped us learn </a:t>
            </a:r>
            <a:r>
              <a:rPr lang="en-US" b="1" dirty="0"/>
              <a:t>Python, random generation, conditions, and loops</a:t>
            </a:r>
            <a:r>
              <a:rPr lang="en-US" dirty="0"/>
              <a:t>.</a:t>
            </a:r>
          </a:p>
          <a:p>
            <a:pPr fontAlgn="t"/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A2566DEF-EDC1-944B-03BA-C04109047481}"/>
              </a:ext>
            </a:extLst>
          </p:cNvPr>
          <p:cNvSpPr>
            <a:spLocks noGrp="1"/>
          </p:cNvSpPr>
          <p:nvPr>
            <p:ph type="ftr" sz="quarter" idx="5"/>
          </p:nvPr>
        </p:nvSpPr>
        <p:spPr/>
        <p:txBody>
          <a:bodyPr/>
          <a:lstStyle/>
          <a:p>
            <a:pPr marL="12700">
              <a:lnSpc>
                <a:spcPts val="1425"/>
              </a:lnSpc>
            </a:pPr>
            <a:r>
              <a:rPr lang="en-US" spc="-5"/>
              <a:t>S. B. Jain Institute of Technology Management and research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41955908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AC5E1DB-F030-1F34-71D4-59365ED5EAC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4" name="CustomShape 1">
            <a:extLst>
              <a:ext uri="{FF2B5EF4-FFF2-40B4-BE49-F238E27FC236}">
                <a16:creationId xmlns:a16="http://schemas.microsoft.com/office/drawing/2014/main" id="{A48F81DD-2C1D-E9FD-8EC4-71B374E632DE}"/>
              </a:ext>
            </a:extLst>
          </p:cNvPr>
          <p:cNvSpPr/>
          <p:nvPr/>
        </p:nvSpPr>
        <p:spPr>
          <a:xfrm>
            <a:off x="703384" y="2895480"/>
            <a:ext cx="7626462" cy="1316520"/>
          </a:xfrm>
          <a:prstGeom prst="rect">
            <a:avLst/>
          </a:prstGeom>
          <a:noFill/>
          <a:ln>
            <a:noFill/>
          </a:ln>
        </p:spPr>
        <p:txBody>
          <a:bodyPr lIns="90000" tIns="45000" rIns="90000" bIns="45000"/>
          <a:lstStyle/>
          <a:p>
            <a:pPr>
              <a:lnSpc>
                <a:spcPct val="100000"/>
              </a:lnSpc>
            </a:pPr>
            <a:r>
              <a:rPr lang="en-IN" sz="2800" dirty="0">
                <a:solidFill>
                  <a:srgbClr val="0000FF"/>
                </a:solidFill>
                <a:latin typeface="Arial"/>
              </a:rPr>
              <a:t>                       </a:t>
            </a:r>
            <a:r>
              <a:rPr lang="en-IN" sz="4800" b="1" dirty="0">
                <a:solidFill>
                  <a:srgbClr val="0000FF"/>
                </a:solidFill>
                <a:latin typeface="Arial"/>
              </a:rPr>
              <a:t>Phase 3</a:t>
            </a:r>
            <a:endParaRPr dirty="0"/>
          </a:p>
          <a:p>
            <a:pPr>
              <a:lnSpc>
                <a:spcPct val="100000"/>
              </a:lnSpc>
            </a:pPr>
            <a:r>
              <a:rPr lang="en-IN" sz="4800" dirty="0">
                <a:solidFill>
                  <a:srgbClr val="0000FF"/>
                </a:solidFill>
                <a:latin typeface="Arial"/>
              </a:rPr>
              <a:t> </a:t>
            </a:r>
            <a:endParaRPr dirty="0"/>
          </a:p>
        </p:txBody>
      </p:sp>
      <p:sp>
        <p:nvSpPr>
          <p:cNvPr id="3" name="TextShape 3">
            <a:extLst>
              <a:ext uri="{FF2B5EF4-FFF2-40B4-BE49-F238E27FC236}">
                <a16:creationId xmlns:a16="http://schemas.microsoft.com/office/drawing/2014/main" id="{DAFC478D-B15B-D409-08B1-7202DB587801}"/>
              </a:ext>
            </a:extLst>
          </p:cNvPr>
          <p:cNvSpPr txBox="1"/>
          <p:nvPr/>
        </p:nvSpPr>
        <p:spPr>
          <a:xfrm>
            <a:off x="410400" y="6172200"/>
            <a:ext cx="6681877" cy="685440"/>
          </a:xfrm>
          <a:prstGeom prst="rect">
            <a:avLst/>
          </a:prstGeom>
        </p:spPr>
        <p:txBody>
          <a:bodyPr anchor="ctr"/>
          <a:lstStyle/>
          <a:p>
            <a:pPr>
              <a:lnSpc>
                <a:spcPct val="100000"/>
              </a:lnSpc>
            </a:pPr>
            <a:r>
              <a:rPr lang="en-IN" dirty="0">
                <a:solidFill>
                  <a:srgbClr val="8B8B8B"/>
                </a:solidFill>
                <a:latin typeface="Cambria"/>
              </a:rPr>
              <a:t>S. B. Jain Institute of Technology Management and research</a:t>
            </a: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245341536"/>
      </p:ext>
    </p:extLst>
  </p:cSld>
  <p:clrMapOvr>
    <a:masterClrMapping/>
  </p:clrMapOvr>
  <p:timing>
    <p:tnLst>
      <p:par>
        <p:cTn id="1" dur="indefinite" restart="never" nodeType="tmRoot">
          <p:childTnLst>
            <p:seq>
              <p:cTn id="2" nodeType="mainSeq"/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D45726D-8996-61DA-FD5C-4750FDAE06F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34A69BC-9EA6-3CC2-D6FD-718866AD270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04823" y="609600"/>
            <a:ext cx="7802880" cy="369332"/>
          </a:xfrm>
        </p:spPr>
        <p:txBody>
          <a:bodyPr/>
          <a:lstStyle/>
          <a:p>
            <a:r>
              <a:rPr lang="en-US" b="1" u="sng" dirty="0"/>
              <a:t>Code :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7E3A0097-C0C4-718F-03F5-AD6FB4B7E581}"/>
              </a:ext>
            </a:extLst>
          </p:cNvPr>
          <p:cNvSpPr>
            <a:spLocks noGrp="1"/>
          </p:cNvSpPr>
          <p:nvPr>
            <p:ph type="ftr" sz="quarter" idx="5"/>
          </p:nvPr>
        </p:nvSpPr>
        <p:spPr/>
        <p:txBody>
          <a:bodyPr/>
          <a:lstStyle/>
          <a:p>
            <a:pPr marL="12700">
              <a:lnSpc>
                <a:spcPts val="1425"/>
              </a:lnSpc>
            </a:pPr>
            <a:r>
              <a:rPr lang="en-US" spc="-5"/>
              <a:t>S. B. Jain Institute of Technology Management and research</a:t>
            </a:r>
            <a:endParaRPr lang="en-US" dirty="0"/>
          </a:p>
        </p:txBody>
      </p:sp>
      <p:pic>
        <p:nvPicPr>
          <p:cNvPr id="30" name="Picture 29">
            <a:extLst>
              <a:ext uri="{FF2B5EF4-FFF2-40B4-BE49-F238E27FC236}">
                <a16:creationId xmlns:a16="http://schemas.microsoft.com/office/drawing/2014/main" id="{37CF15AD-CED0-8AEC-8B88-01C485D4375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9600" y="1108712"/>
            <a:ext cx="7224340" cy="506348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50121350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4BDE6AD-27E9-1457-CCEC-3641E129A6A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3A00880-B657-83FA-2FD0-C2C6B0C4A4B8}"/>
              </a:ext>
            </a:extLst>
          </p:cNvPr>
          <p:cNvSpPr>
            <a:spLocks noGrp="1"/>
          </p:cNvSpPr>
          <p:nvPr>
            <p:ph type="ftr" sz="quarter" idx="5"/>
          </p:nvPr>
        </p:nvSpPr>
        <p:spPr/>
        <p:txBody>
          <a:bodyPr/>
          <a:lstStyle/>
          <a:p>
            <a:pPr marL="12700">
              <a:lnSpc>
                <a:spcPts val="1425"/>
              </a:lnSpc>
            </a:pPr>
            <a:r>
              <a:rPr lang="en-US" spc="-5"/>
              <a:t>S. B. Jain Institute of Technology Management and research</a:t>
            </a:r>
            <a:endParaRPr lang="en-US" dirty="0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B8D678D8-C7FC-DE3D-0770-23F8DEC1C7E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45581" y="944664"/>
            <a:ext cx="6652837" cy="496867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06516501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869E3E6-432A-5151-5ED0-147D1B508F7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731746A2-FD04-FA6B-84B6-EFCCEBA1B18D}"/>
              </a:ext>
            </a:extLst>
          </p:cNvPr>
          <p:cNvSpPr>
            <a:spLocks noGrp="1"/>
          </p:cNvSpPr>
          <p:nvPr>
            <p:ph type="ftr" sz="quarter" idx="5"/>
          </p:nvPr>
        </p:nvSpPr>
        <p:spPr/>
        <p:txBody>
          <a:bodyPr/>
          <a:lstStyle/>
          <a:p>
            <a:pPr marL="12700">
              <a:lnSpc>
                <a:spcPts val="1425"/>
              </a:lnSpc>
            </a:pPr>
            <a:r>
              <a:rPr lang="en-US" spc="-5"/>
              <a:t>S. B. Jain Institute of Technology Management and research</a:t>
            </a:r>
            <a:endParaRPr lang="en-US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1958B42A-C951-9A9F-C459-032C6BA9230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48460" y="952285"/>
            <a:ext cx="6447079" cy="495342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79298727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BC81037-4E9E-14AB-7B4D-39202905727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20D0E40-3A05-6981-BC7F-25B6FA56B593}"/>
              </a:ext>
            </a:extLst>
          </p:cNvPr>
          <p:cNvSpPr>
            <a:spLocks noGrp="1"/>
          </p:cNvSpPr>
          <p:nvPr>
            <p:ph type="ftr" sz="quarter" idx="5"/>
          </p:nvPr>
        </p:nvSpPr>
        <p:spPr/>
        <p:txBody>
          <a:bodyPr/>
          <a:lstStyle/>
          <a:p>
            <a:pPr marL="12700">
              <a:lnSpc>
                <a:spcPts val="1425"/>
              </a:lnSpc>
            </a:pPr>
            <a:r>
              <a:rPr lang="en-US" spc="-5"/>
              <a:t>S. B. Jain Institute of Technology Management and research</a:t>
            </a:r>
            <a:endParaRPr lang="en-US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98D34135-8353-2306-08DE-2C5B73650E9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82669" y="925613"/>
            <a:ext cx="7178662" cy="500677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12595068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3D715A8-D9F6-D684-F451-4F864F7B392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4F486AAE-917D-B49C-1D85-1620C1A3BB28}"/>
              </a:ext>
            </a:extLst>
          </p:cNvPr>
          <p:cNvSpPr>
            <a:spLocks noGrp="1"/>
          </p:cNvSpPr>
          <p:nvPr>
            <p:ph type="ftr" sz="quarter" idx="5"/>
          </p:nvPr>
        </p:nvSpPr>
        <p:spPr/>
        <p:txBody>
          <a:bodyPr/>
          <a:lstStyle/>
          <a:p>
            <a:pPr marL="12700">
              <a:lnSpc>
                <a:spcPts val="1425"/>
              </a:lnSpc>
            </a:pPr>
            <a:r>
              <a:rPr lang="en-US" spc="-5"/>
              <a:t>S. B. Jain Institute of Technology Management and research</a:t>
            </a:r>
            <a:endParaRPr lang="en-US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74DE652B-B612-A49E-2148-8CA664ECA1E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0256" y="940854"/>
            <a:ext cx="7483488" cy="497629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57783286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1D05011-8878-158E-A1B4-33E499FF02C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4EEBD5CC-FD5B-AD02-D819-57E0B8052C8D}"/>
              </a:ext>
            </a:extLst>
          </p:cNvPr>
          <p:cNvSpPr>
            <a:spLocks noGrp="1"/>
          </p:cNvSpPr>
          <p:nvPr>
            <p:ph type="ftr" sz="quarter" idx="5"/>
          </p:nvPr>
        </p:nvSpPr>
        <p:spPr/>
        <p:txBody>
          <a:bodyPr/>
          <a:lstStyle/>
          <a:p>
            <a:pPr marL="12700">
              <a:lnSpc>
                <a:spcPts val="1425"/>
              </a:lnSpc>
            </a:pPr>
            <a:r>
              <a:rPr lang="en-US" spc="-5"/>
              <a:t>S. B. Jain Institute of Technology Management and research</a:t>
            </a:r>
            <a:endParaRPr lang="en-US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F2260911-3684-06BB-0E8D-75AA2B4381E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76996" y="1230439"/>
            <a:ext cx="6790008" cy="439712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55949635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6D2E966-67F1-A8E5-911D-D1FC51336E4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3AEACEE-7DA4-51E4-5B88-1303B1E60D9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04823" y="609600"/>
            <a:ext cx="7802880" cy="369332"/>
          </a:xfrm>
        </p:spPr>
        <p:txBody>
          <a:bodyPr/>
          <a:lstStyle/>
          <a:p>
            <a:r>
              <a:rPr lang="en-US" b="1" u="sng" dirty="0"/>
              <a:t>OUTPUT :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2CA77D1D-DC35-E6E3-7405-3B932728C59F}"/>
              </a:ext>
            </a:extLst>
          </p:cNvPr>
          <p:cNvSpPr>
            <a:spLocks noGrp="1"/>
          </p:cNvSpPr>
          <p:nvPr>
            <p:ph type="ftr" sz="quarter" idx="5"/>
          </p:nvPr>
        </p:nvSpPr>
        <p:spPr/>
        <p:txBody>
          <a:bodyPr/>
          <a:lstStyle/>
          <a:p>
            <a:pPr marL="12700">
              <a:lnSpc>
                <a:spcPts val="1425"/>
              </a:lnSpc>
            </a:pPr>
            <a:r>
              <a:rPr lang="en-US" spc="-5"/>
              <a:t>S. B. Jain Institute of Technology Management and research</a:t>
            </a:r>
            <a:endParaRPr lang="en-US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2E22A8FE-F4B7-336B-393B-12816161936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52452" y="1219200"/>
            <a:ext cx="8439096" cy="481074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17190263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BF76250-1FA0-AE17-5922-FE48FD25B3E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D43EAFD-B3B3-56D3-5CF9-9328BC91525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04823" y="609600"/>
            <a:ext cx="7802880" cy="369332"/>
          </a:xfrm>
        </p:spPr>
        <p:txBody>
          <a:bodyPr/>
          <a:lstStyle/>
          <a:p>
            <a:r>
              <a:rPr lang="en-US" b="1" u="sng" dirty="0"/>
              <a:t>Phase 3 – Improvements Made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540565D-B7D0-0DED-A412-40A381EFD7D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512929" y="1045229"/>
            <a:ext cx="7091679" cy="5346889"/>
          </a:xfrm>
        </p:spPr>
        <p:txBody>
          <a:bodyPr/>
          <a:lstStyle/>
          <a:p>
            <a:pPr marL="285750" lvl="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/>
              <a:t>Improved the Word Counter using Python.</a:t>
            </a:r>
          </a:p>
          <a:p>
            <a:pPr marL="285750" lvl="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/>
              <a:t>Added a user-friendly interface using </a:t>
            </a:r>
            <a:r>
              <a:rPr lang="en-US" dirty="0" err="1"/>
              <a:t>Tkinter</a:t>
            </a:r>
            <a:r>
              <a:rPr lang="en-US" dirty="0"/>
              <a:t>.</a:t>
            </a:r>
          </a:p>
          <a:p>
            <a:pPr marL="285750" lvl="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/>
              <a:t>Added an option to enter and analyze text.</a:t>
            </a:r>
          </a:p>
          <a:p>
            <a:pPr marL="285750" lvl="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/>
              <a:t>Added word and character counting.</a:t>
            </a:r>
          </a:p>
          <a:p>
            <a:pPr marL="285750" lvl="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/>
              <a:t>Added sentence and paragraph counting.</a:t>
            </a:r>
          </a:p>
          <a:p>
            <a:pPr marL="285750" lvl="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/>
              <a:t>Added unique word and repeated word detection.</a:t>
            </a:r>
          </a:p>
          <a:p>
            <a:pPr marL="285750" lvl="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/>
              <a:t>Added a list of the ten most frequently used words.</a:t>
            </a:r>
          </a:p>
          <a:p>
            <a:pPr marL="285750" lvl="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/>
              <a:t>Added estimated reading time.</a:t>
            </a:r>
          </a:p>
          <a:p>
            <a:pPr marL="285750" lvl="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/>
              <a:t>Added an option to open text files.</a:t>
            </a:r>
          </a:p>
          <a:p>
            <a:pPr marL="285750" lvl="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/>
              <a:t>Added an option to save the analysis report.</a:t>
            </a:r>
          </a:p>
          <a:p>
            <a:pPr marL="285750" lvl="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/>
              <a:t>Added a clear button to reset the input and results.</a:t>
            </a:r>
          </a:p>
          <a:p>
            <a:pPr marL="285750" lvl="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/>
              <a:t>Improved input validation and error handling.</a:t>
            </a:r>
          </a:p>
          <a:p>
            <a:pPr marL="285750" lvl="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/>
              <a:t>Tested the program with different text inputs.</a:t>
            </a:r>
          </a:p>
          <a:p>
            <a:pPr marL="285750" indent="-285750" fontAlgn="t">
              <a:lnSpc>
                <a:spcPct val="150000"/>
              </a:lnSpc>
              <a:buFont typeface="Arial" panose="020B0604020202020204" pitchFamily="34" charset="0"/>
              <a:buChar char="•"/>
            </a:pPr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70C4149-E478-3F6B-1659-A87ACAF5AB99}"/>
              </a:ext>
            </a:extLst>
          </p:cNvPr>
          <p:cNvSpPr>
            <a:spLocks noGrp="1"/>
          </p:cNvSpPr>
          <p:nvPr>
            <p:ph type="ftr" sz="quarter" idx="5"/>
          </p:nvPr>
        </p:nvSpPr>
        <p:spPr/>
        <p:txBody>
          <a:bodyPr/>
          <a:lstStyle/>
          <a:p>
            <a:pPr marL="12700">
              <a:lnSpc>
                <a:spcPts val="1425"/>
              </a:lnSpc>
            </a:pPr>
            <a:r>
              <a:rPr lang="en-US" spc="-5"/>
              <a:t>S. B. Jain Institute of Technology Management and research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95916150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08482A4-D718-1DED-6137-E14E1EC58A9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632C096-4AA4-EA37-779B-1222DFC3286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04823" y="609600"/>
            <a:ext cx="7802880" cy="369332"/>
          </a:xfrm>
        </p:spPr>
        <p:txBody>
          <a:bodyPr/>
          <a:lstStyle/>
          <a:p>
            <a:r>
              <a:rPr lang="en-US" b="1" u="sng" dirty="0"/>
              <a:t>Technologies Used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FE1DDB3-D802-4468-AA85-0CB5D9A4ADC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504823" y="1262420"/>
            <a:ext cx="7471409" cy="3739485"/>
          </a:xfrm>
        </p:spPr>
        <p:txBody>
          <a:bodyPr/>
          <a:lstStyle/>
          <a:p>
            <a:pPr marL="285750" lvl="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/>
              <a:t>Python</a:t>
            </a:r>
          </a:p>
          <a:p>
            <a:pPr marL="285750" lvl="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 err="1"/>
              <a:t>Tkinter</a:t>
            </a:r>
            <a:endParaRPr lang="en-US" dirty="0"/>
          </a:p>
          <a:p>
            <a:pPr marL="285750" lvl="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/>
              <a:t>re module</a:t>
            </a:r>
          </a:p>
          <a:p>
            <a:pPr marL="285750" lvl="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 err="1"/>
              <a:t>collections.Counter</a:t>
            </a:r>
            <a:endParaRPr lang="en-US" dirty="0"/>
          </a:p>
          <a:p>
            <a:pPr marL="285750" lvl="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/>
              <a:t>math module</a:t>
            </a:r>
          </a:p>
          <a:p>
            <a:pPr marL="285750" lvl="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/>
              <a:t>Functions and loops</a:t>
            </a:r>
          </a:p>
          <a:p>
            <a:pPr marL="285750" lvl="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/>
              <a:t>Conditional statements</a:t>
            </a:r>
          </a:p>
          <a:p>
            <a:pPr marL="285750" lvl="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/>
              <a:t>File handling</a:t>
            </a:r>
          </a:p>
          <a:p>
            <a:pPr marL="285750" indent="-285750" fontAlgn="t">
              <a:lnSpc>
                <a:spcPct val="150000"/>
              </a:lnSpc>
              <a:buFont typeface="Arial" panose="020B0604020202020204" pitchFamily="34" charset="0"/>
              <a:buChar char="•"/>
            </a:pPr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55A5663-E320-04F9-F86B-958E51064FC8}"/>
              </a:ext>
            </a:extLst>
          </p:cNvPr>
          <p:cNvSpPr>
            <a:spLocks noGrp="1"/>
          </p:cNvSpPr>
          <p:nvPr>
            <p:ph type="ftr" sz="quarter" idx="5"/>
          </p:nvPr>
        </p:nvSpPr>
        <p:spPr/>
        <p:txBody>
          <a:bodyPr/>
          <a:lstStyle/>
          <a:p>
            <a:pPr marL="12700">
              <a:lnSpc>
                <a:spcPts val="1425"/>
              </a:lnSpc>
            </a:pPr>
            <a:r>
              <a:rPr lang="en-US" spc="-5"/>
              <a:t>S. B. Jain Institute of Technology Management and research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24658791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4" name="CustomShape 1"/>
          <p:cNvSpPr/>
          <p:nvPr/>
        </p:nvSpPr>
        <p:spPr>
          <a:xfrm>
            <a:off x="703384" y="2895480"/>
            <a:ext cx="7626462" cy="1316520"/>
          </a:xfrm>
          <a:prstGeom prst="rect">
            <a:avLst/>
          </a:prstGeom>
          <a:noFill/>
          <a:ln>
            <a:noFill/>
          </a:ln>
        </p:spPr>
        <p:txBody>
          <a:bodyPr lIns="90000" tIns="45000" rIns="90000" bIns="45000"/>
          <a:lstStyle/>
          <a:p>
            <a:pPr>
              <a:lnSpc>
                <a:spcPct val="100000"/>
              </a:lnSpc>
            </a:pPr>
            <a:r>
              <a:rPr lang="en-IN" sz="2800" dirty="0">
                <a:solidFill>
                  <a:srgbClr val="0000FF"/>
                </a:solidFill>
                <a:latin typeface="Arial"/>
              </a:rPr>
              <a:t>                       </a:t>
            </a:r>
            <a:r>
              <a:rPr lang="en-IN" sz="4800" b="1" dirty="0">
                <a:solidFill>
                  <a:srgbClr val="0000FF"/>
                </a:solidFill>
                <a:latin typeface="Arial"/>
              </a:rPr>
              <a:t>Thank You</a:t>
            </a:r>
            <a:endParaRPr/>
          </a:p>
          <a:p>
            <a:pPr>
              <a:lnSpc>
                <a:spcPct val="100000"/>
              </a:lnSpc>
            </a:pPr>
            <a:r>
              <a:rPr lang="en-IN" sz="4800" dirty="0">
                <a:solidFill>
                  <a:srgbClr val="0000FF"/>
                </a:solidFill>
                <a:latin typeface="Arial"/>
              </a:rPr>
              <a:t> </a:t>
            </a:r>
            <a:endParaRPr/>
          </a:p>
        </p:txBody>
      </p:sp>
      <p:sp>
        <p:nvSpPr>
          <p:cNvPr id="3" name="TextShape 3"/>
          <p:cNvSpPr txBox="1"/>
          <p:nvPr/>
        </p:nvSpPr>
        <p:spPr>
          <a:xfrm>
            <a:off x="410400" y="6172200"/>
            <a:ext cx="6681877" cy="685440"/>
          </a:xfrm>
          <a:prstGeom prst="rect">
            <a:avLst/>
          </a:prstGeom>
        </p:spPr>
        <p:txBody>
          <a:bodyPr anchor="ctr"/>
          <a:lstStyle/>
          <a:p>
            <a:pPr>
              <a:lnSpc>
                <a:spcPct val="100000"/>
              </a:lnSpc>
            </a:pPr>
            <a:r>
              <a:rPr lang="en-IN" dirty="0">
                <a:solidFill>
                  <a:srgbClr val="8B8B8B"/>
                </a:solidFill>
                <a:latin typeface="Cambria"/>
              </a:rPr>
              <a:t>S. B. Jain Institute of Technology Management and research</a:t>
            </a:r>
            <a:endParaRPr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>
              <p:cTn id="2" nodeType="mainSeq"/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1459</TotalTime>
  <Words>1073</Words>
  <Application>Microsoft Office PowerPoint</Application>
  <PresentationFormat>On-screen Show (4:3)</PresentationFormat>
  <Paragraphs>196</Paragraphs>
  <Slides>30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30</vt:i4>
      </vt:variant>
    </vt:vector>
  </HeadingPairs>
  <TitlesOfParts>
    <vt:vector size="36" baseType="lpstr">
      <vt:lpstr>Arial</vt:lpstr>
      <vt:lpstr>Calibri</vt:lpstr>
      <vt:lpstr>Cambria</vt:lpstr>
      <vt:lpstr>Times New Roman</vt:lpstr>
      <vt:lpstr>Wingdings</vt:lpstr>
      <vt:lpstr>Office Theme</vt:lpstr>
      <vt:lpstr>Experiential Learning Project Assessment-I on “Simple Password Generator” under the course Python Programming Language (N-PCCCM304P) </vt:lpstr>
      <vt:lpstr>Problem statement </vt:lpstr>
      <vt:lpstr>  Objectives</vt:lpstr>
      <vt:lpstr>  Algorithm</vt:lpstr>
      <vt:lpstr>   Flowchart/pseudocode</vt:lpstr>
      <vt:lpstr> Understanding of Python logic</vt:lpstr>
      <vt:lpstr>How it works &amp; benefits</vt:lpstr>
      <vt:lpstr>GitHub Details &amp; My Contribution</vt:lpstr>
      <vt:lpstr>Result / Expected Output</vt:lpstr>
      <vt:lpstr>PowerPoint Presentation</vt:lpstr>
      <vt:lpstr>Phase 2 : Code</vt:lpstr>
      <vt:lpstr>PowerPoint Presentation</vt:lpstr>
      <vt:lpstr>PowerPoint Presentation</vt:lpstr>
      <vt:lpstr>PowerPoint Presentation</vt:lpstr>
      <vt:lpstr>PowerPoint Presentation</vt:lpstr>
      <vt:lpstr>Phase 2 – Improvements Made</vt:lpstr>
      <vt:lpstr>Technologies Used</vt:lpstr>
      <vt:lpstr>   Flowchart</vt:lpstr>
      <vt:lpstr>Conclusion</vt:lpstr>
      <vt:lpstr>PowerPoint Presentation</vt:lpstr>
      <vt:lpstr>Code :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OUTPUT :</vt:lpstr>
      <vt:lpstr>Phase 3 – Improvements Made</vt:lpstr>
      <vt:lpstr>Technologies Used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Slide 1</dc:title>
  <dc:creator>MRS. MAYURI GETME</dc:creator>
  <cp:lastModifiedBy>LOQ</cp:lastModifiedBy>
  <cp:revision>219</cp:revision>
  <dcterms:created xsi:type="dcterms:W3CDTF">2021-03-08T15:20:31Z</dcterms:created>
  <dcterms:modified xsi:type="dcterms:W3CDTF">2026-10-12T18:24:58Z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2017-11-07T00:00:00Z</vt:filetime>
  </property>
  <property fmtid="{D5CDD505-2E9C-101B-9397-08002B2CF9AE}" pid="3" name="Creator">
    <vt:lpwstr>Impress</vt:lpwstr>
  </property>
  <property fmtid="{D5CDD505-2E9C-101B-9397-08002B2CF9AE}" pid="4" name="LastSaved">
    <vt:filetime>2021-03-08T00:00:00Z</vt:filetime>
  </property>
</Properties>
</file>